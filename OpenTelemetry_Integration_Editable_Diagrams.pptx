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l">
              <a:defRPr sz="2400" b="1">
                <a:solidFill>
                  <a:srgbClr val="164170"/>
                </a:solidFill>
                <a:latin typeface="Aptos"/>
              </a:defRPr>
            </a:pPr>
            <a:r>
              <a:t>OpenTelemetry Integration —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155680" cy="292608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l">
              <a:defRPr sz="1050" b="0">
                <a:solidFill>
                  <a:srgbClr val="5B6D80"/>
                </a:solidFill>
                <a:latin typeface="Aptos"/>
              </a:defRPr>
            </a:pPr>
            <a:r>
              <a:t>Telemetry is captured in the web application and API services, sent through PerfDataQueueService to MSMQ, then persisted and batch-processed.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9264"/>
            <a:ext cx="11338560" cy="32004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417320" cy="2057400"/>
          </a:xfrm>
          <a:prstGeom prst="roundRect">
            <a:avLst/>
          </a:prstGeom>
          <a:solidFill>
            <a:srgbClr val="E5F2FF"/>
          </a:solidFill>
          <a:ln w="17145"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" y="1847088"/>
            <a:ext cx="1380744" cy="475488"/>
          </a:xfrm>
          <a:prstGeom prst="roundRect">
            <a:avLst/>
          </a:prstGeom>
          <a:solidFill>
            <a:srgbClr val="2575BE"/>
          </a:solidFill>
          <a:ln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" y="2103120"/>
            <a:ext cx="1380744" cy="219456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874519"/>
            <a:ext cx="12710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1. Web Application</a:t>
            </a:r>
            <a:br/>
            <a:r>
              <a:t>(Web Server)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414016"/>
            <a:ext cx="1197864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Captures traces,</a:t>
            </a:r>
            <a:br/>
            <a:r>
              <a:t>metrics and logs.</a:t>
            </a:r>
            <a:br/>
            <a:br/>
            <a:r>
              <a:t>Calls API services</a:t>
            </a:r>
            <a:br/>
            <a:r>
              <a:t>and PerfDataQueueService.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1828800"/>
            <a:ext cx="1417320" cy="2057400"/>
          </a:xfrm>
          <a:prstGeom prst="roundRect">
            <a:avLst/>
          </a:prstGeom>
          <a:solidFill>
            <a:srgbClr val="F3ECFF"/>
          </a:solidFill>
          <a:ln w="17145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75688" y="1847088"/>
            <a:ext cx="1380744" cy="475488"/>
          </a:xfrm>
          <a:prstGeom prst="roundRect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75688" y="2103120"/>
            <a:ext cx="1380744" cy="219456"/>
          </a:xfrm>
          <a:prstGeom prst="rect">
            <a:avLst/>
          </a:prstGeom>
          <a:solidFill>
            <a:srgbClr val="6F4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0552" y="1874519"/>
            <a:ext cx="12710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2. API Services</a:t>
            </a:r>
            <a:br/>
            <a:r>
              <a:t>(App Server)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414016"/>
            <a:ext cx="1197864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Execute business logic</a:t>
            </a:r>
            <a:br/>
            <a:r>
              <a:t>and database calls.</a:t>
            </a:r>
            <a:br/>
            <a:br/>
            <a:r>
              <a:t>Capture telemetry and</a:t>
            </a:r>
            <a:br/>
            <a:r>
              <a:t>call PerfDataQueueService.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1828800"/>
            <a:ext cx="1417320" cy="2057400"/>
          </a:xfrm>
          <a:prstGeom prst="roundRect">
            <a:avLst/>
          </a:prstGeom>
          <a:solidFill>
            <a:srgbClr val="E8F8E7"/>
          </a:solidFill>
          <a:ln w="17145">
            <a:solidFill>
              <a:srgbClr val="3A8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3048" y="1847088"/>
            <a:ext cx="1380744" cy="475488"/>
          </a:xfrm>
          <a:prstGeom prst="roundRect">
            <a:avLst/>
          </a:prstGeom>
          <a:solidFill>
            <a:srgbClr val="3A8444"/>
          </a:solidFill>
          <a:ln>
            <a:solidFill>
              <a:srgbClr val="3A8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13048" y="2103120"/>
            <a:ext cx="1380744" cy="219456"/>
          </a:xfrm>
          <a:prstGeom prst="rect">
            <a:avLst/>
          </a:prstGeom>
          <a:solidFill>
            <a:srgbClr val="3A8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1874519"/>
            <a:ext cx="12710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3. PerfDataQueueService API</a:t>
            </a:r>
            <a:br/>
            <a:r>
              <a:t>(App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8" y="2414016"/>
            <a:ext cx="1197864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Receives telemetry from</a:t>
            </a:r>
            <a:br/>
            <a:r>
              <a:t>both the web application</a:t>
            </a:r>
            <a:br/>
            <a:r>
              <a:t>and API services.</a:t>
            </a:r>
            <a:br/>
            <a:br/>
            <a:r>
              <a:t>Writes messages to MSMQ.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1828800"/>
            <a:ext cx="1417320" cy="2057400"/>
          </a:xfrm>
          <a:prstGeom prst="roundRect">
            <a:avLst/>
          </a:prstGeom>
          <a:solidFill>
            <a:srgbClr val="E5F2FF"/>
          </a:solidFill>
          <a:ln w="17145"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50407" y="1847088"/>
            <a:ext cx="1380744" cy="475488"/>
          </a:xfrm>
          <a:prstGeom prst="roundRect">
            <a:avLst/>
          </a:prstGeom>
          <a:solidFill>
            <a:srgbClr val="2575BE"/>
          </a:solidFill>
          <a:ln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50407" y="2103120"/>
            <a:ext cx="1380744" cy="219456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05272" y="1874519"/>
            <a:ext cx="12710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4. MSMQ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2414016"/>
            <a:ext cx="1197864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Buffers telemetry</a:t>
            </a:r>
            <a:br/>
            <a:r>
              <a:t>messages asynchronously</a:t>
            </a:r>
            <a:br/>
            <a:r>
              <a:t>for reliable processing.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828800"/>
            <a:ext cx="1417320" cy="2057400"/>
          </a:xfrm>
          <a:prstGeom prst="roundRect">
            <a:avLst/>
          </a:prstGeom>
          <a:solidFill>
            <a:srgbClr val="FFF1E0"/>
          </a:solidFill>
          <a:ln w="17145"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87768" y="1847088"/>
            <a:ext cx="1380744" cy="475488"/>
          </a:xfrm>
          <a:prstGeom prst="roundRect">
            <a:avLst/>
          </a:prstGeom>
          <a:solidFill>
            <a:srgbClr val="CE6410"/>
          </a:solidFill>
          <a:ln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7768" y="2103120"/>
            <a:ext cx="1380744" cy="219456"/>
          </a:xfrm>
          <a:prstGeom prst="rect">
            <a:avLst/>
          </a:prstGeom>
          <a:solidFill>
            <a:srgbClr val="CE6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1" y="1874519"/>
            <a:ext cx="12710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5. PerfDataQueueReader</a:t>
            </a:r>
            <a:br/>
            <a:r>
              <a:t>(App Server)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2414016"/>
            <a:ext cx="1197864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Continuously reads</a:t>
            </a:r>
            <a:br/>
            <a:r>
              <a:t>messages from MSMQ</a:t>
            </a:r>
            <a:br/>
            <a:r>
              <a:t>and inserts records into</a:t>
            </a:r>
            <a:br/>
            <a:r>
              <a:t>the PerfData database.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828800"/>
            <a:ext cx="1234440" cy="2057400"/>
          </a:xfrm>
          <a:prstGeom prst="roundRect">
            <a:avLst/>
          </a:prstGeom>
          <a:solidFill>
            <a:srgbClr val="F3ECFF"/>
          </a:solidFill>
          <a:ln w="17145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25128" y="1847088"/>
            <a:ext cx="1197864" cy="475488"/>
          </a:xfrm>
          <a:prstGeom prst="roundRect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25128" y="2103120"/>
            <a:ext cx="1197864" cy="219456"/>
          </a:xfrm>
          <a:prstGeom prst="rect">
            <a:avLst/>
          </a:prstGeom>
          <a:solidFill>
            <a:srgbClr val="6F4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1874519"/>
            <a:ext cx="108813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6. PerfData DB</a:t>
            </a:r>
            <a:br/>
            <a:r>
              <a:t>(DB Server)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2414016"/>
            <a:ext cx="1014984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Stores raw telemetry</a:t>
            </a:r>
            <a:br/>
            <a:r>
              <a:t>and processed records.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1828800"/>
            <a:ext cx="1389888" cy="2057400"/>
          </a:xfrm>
          <a:prstGeom prst="roundRect">
            <a:avLst/>
          </a:prstGeom>
          <a:solidFill>
            <a:srgbClr val="E2F7F6"/>
          </a:solidFill>
          <a:ln w="17145">
            <a:solidFill>
              <a:srgbClr val="157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488167" y="1847088"/>
            <a:ext cx="1353312" cy="475488"/>
          </a:xfrm>
          <a:prstGeom prst="roundRect">
            <a:avLst/>
          </a:prstGeom>
          <a:solidFill>
            <a:srgbClr val="157F84"/>
          </a:solidFill>
          <a:ln>
            <a:solidFill>
              <a:srgbClr val="157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88167" y="2103120"/>
            <a:ext cx="1353312" cy="219456"/>
          </a:xfrm>
          <a:prstGeom prst="rect">
            <a:avLst/>
          </a:prstGeom>
          <a:solidFill>
            <a:srgbClr val="157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43032" y="1874519"/>
            <a:ext cx="1243584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7. PerfDataBatchProcess</a:t>
            </a:r>
            <a:br/>
            <a:r>
              <a:t>(Batch Server)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79607" y="2414016"/>
            <a:ext cx="1170432" cy="13807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9" b="0">
                <a:solidFill>
                  <a:srgbClr val="1F3145"/>
                </a:solidFill>
                <a:latin typeface="Aptos"/>
              </a:defRPr>
            </a:pPr>
            <a:r>
              <a:t>Runs hourly to aggregate,</a:t>
            </a:r>
            <a:br/>
            <a:r>
              <a:t>classify and clean up</a:t>
            </a:r>
            <a:br/>
            <a:r>
              <a:t>data in PerfData DB.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755648" y="2857500"/>
            <a:ext cx="256032" cy="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93008" y="2857500"/>
            <a:ext cx="256032" cy="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30368" y="2857500"/>
            <a:ext cx="256032" cy="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67727" y="2857500"/>
            <a:ext cx="256033" cy="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705088" y="2857500"/>
            <a:ext cx="256031" cy="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259567" y="2857500"/>
            <a:ext cx="164592" cy="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37560" y="1417320"/>
            <a:ext cx="2331720" cy="292608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00" b="1">
                <a:solidFill>
                  <a:srgbClr val="2575BE"/>
                </a:solidFill>
                <a:latin typeface="Aptos"/>
              </a:defRPr>
            </a:pPr>
            <a:r>
              <a:t>Telemetry from both callers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005072"/>
            <a:ext cx="150876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00" b="0">
                <a:solidFill>
                  <a:srgbClr val="5B6D80"/>
                </a:solidFill>
                <a:latin typeface="Aptos"/>
              </a:defRPr>
            </a:pPr>
            <a:r>
              <a:t>Queue messages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005072"/>
            <a:ext cx="160020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00" b="0">
                <a:solidFill>
                  <a:srgbClr val="5B6D80"/>
                </a:solidFill>
                <a:latin typeface="Aptos"/>
              </a:defRPr>
            </a:pPr>
            <a:r>
              <a:t>Read + insert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4005072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00" b="0">
                <a:solidFill>
                  <a:srgbClr val="5B6D80"/>
                </a:solidFill>
                <a:latin typeface="Aptos"/>
              </a:defRPr>
            </a:pPr>
            <a:r>
              <a:t>DB 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42448" y="4005072"/>
            <a:ext cx="137160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50" b="0">
                <a:solidFill>
                  <a:srgbClr val="5B6D80"/>
                </a:solidFill>
                <a:latin typeface="Aptos"/>
              </a:defRPr>
            </a:pPr>
            <a:r>
              <a:t>Hourly processing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4709160"/>
            <a:ext cx="4251960" cy="1051560"/>
          </a:xfrm>
          <a:prstGeom prst="roundRect">
            <a:avLst/>
          </a:prstGeom>
          <a:solidFill>
            <a:srgbClr val="F7FAFE"/>
          </a:solidFill>
          <a:ln w="13970">
            <a:solidFill>
              <a:srgbClr val="B4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35240" y="4773168"/>
            <a:ext cx="3886200" cy="256032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1200" b="1">
                <a:solidFill>
                  <a:srgbClr val="164170"/>
                </a:solidFill>
                <a:latin typeface="Aptos"/>
              </a:defRPr>
            </a:pPr>
            <a:r>
              <a:t>Optional external monitoring — Dynatrace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62672" y="5074920"/>
            <a:ext cx="3822191" cy="50292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50" b="0">
                <a:solidFill>
                  <a:srgbClr val="1F3145"/>
                </a:solidFill>
                <a:latin typeface="Aptos"/>
              </a:defRPr>
            </a:pPr>
            <a:r>
              <a:t>Aggregated application and transaction-class metrics can be sent after batch processing (for example, a 10-minute/hourly POC).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9646920" y="3913632"/>
            <a:ext cx="502920" cy="768096"/>
          </a:xfrm>
          <a:prstGeom prst="line">
            <a:avLst/>
          </a:prstGeom>
          <a:ln w="17780">
            <a:solidFill>
              <a:srgbClr val="157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57200" y="4800600"/>
            <a:ext cx="6537960" cy="868680"/>
          </a:xfrm>
          <a:prstGeom prst="rect">
            <a:avLst/>
          </a:prstGeom>
          <a:noFill/>
        </p:spPr>
        <p:txBody>
          <a:bodyPr wrap="square" lIns="109728" rIns="109728" tIns="27432" bIns="18288" anchor="t">
            <a:spAutoFit/>
          </a:bodyPr>
          <a:lstStyle/>
          <a:p>
            <a:pPr algn="l">
              <a:defRPr sz="1050" b="0">
                <a:solidFill>
                  <a:srgbClr val="1F3145"/>
                </a:solidFill>
                <a:latin typeface="Aptos"/>
              </a:defRPr>
            </a:pPr>
            <a:r>
              <a:t>Important distinction:</a:t>
            </a:r>
            <a:br/>
            <a:r>
              <a:t>• PerfDataQueueService API writes telemetry to MSMQ.</a:t>
            </a:r>
            <a:br/>
            <a:r>
              <a:t>• PerfDataQueueReader reads MSMQ and writes to PerfData DB on the separate DB Server.</a:t>
            </a:r>
            <a:br/>
            <a:r>
              <a:t>• PerfDataBatchProcess runs hourly on the Batch Server.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l">
              <a:defRPr sz="2400" b="1">
                <a:solidFill>
                  <a:srgbClr val="164170"/>
                </a:solidFill>
                <a:latin typeface="Aptos"/>
              </a:defRPr>
            </a:pPr>
            <a:r>
              <a:t>OpenTelemetry Integration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21792"/>
            <a:ext cx="11155680" cy="292608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l">
              <a:defRPr sz="1050" b="0">
                <a:solidFill>
                  <a:srgbClr val="5B6D80"/>
                </a:solidFill>
                <a:latin typeface="Aptos"/>
              </a:defRPr>
            </a:pPr>
            <a:r>
              <a:t>Logical deployment view: web tier, application tier, MSMQ, dedicated database server, batch server and optional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9264"/>
            <a:ext cx="11338560" cy="32004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325880"/>
            <a:ext cx="2240280" cy="4434840"/>
          </a:xfrm>
          <a:prstGeom prst="roundRect">
            <a:avLst/>
          </a:prstGeom>
          <a:solidFill>
            <a:srgbClr val="E5F2FF"/>
          </a:solidFill>
          <a:ln w="15875"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399032"/>
            <a:ext cx="214884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1000" b="1">
                <a:solidFill>
                  <a:srgbClr val="2575BE"/>
                </a:solidFill>
                <a:latin typeface="Aptos"/>
              </a:defRPr>
            </a:pPr>
            <a:r>
              <a:t>WEB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325880"/>
            <a:ext cx="6080760" cy="4434840"/>
          </a:xfrm>
          <a:prstGeom prst="roundRect">
            <a:avLst/>
          </a:prstGeom>
          <a:solidFill>
            <a:srgbClr val="F7F4FF"/>
          </a:solidFill>
          <a:ln w="15875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399032"/>
            <a:ext cx="598932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1000" b="1">
                <a:solidFill>
                  <a:srgbClr val="6F4BB5"/>
                </a:solidFill>
                <a:latin typeface="Aptos"/>
              </a:defRPr>
            </a:pPr>
            <a:r>
              <a:t>APPLICATION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25880"/>
            <a:ext cx="1051560" cy="4434840"/>
          </a:xfrm>
          <a:prstGeom prst="roundRect">
            <a:avLst/>
          </a:prstGeom>
          <a:solidFill>
            <a:srgbClr val="FFF1E0"/>
          </a:solidFill>
          <a:ln w="15875"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399032"/>
            <a:ext cx="960119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1000" b="1">
                <a:solidFill>
                  <a:srgbClr val="CE6410"/>
                </a:solidFill>
                <a:latin typeface="Aptos"/>
              </a:defRPr>
            </a:pPr>
            <a:r>
              <a:t>DB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1325880"/>
            <a:ext cx="1554480" cy="4434840"/>
          </a:xfrm>
          <a:prstGeom prst="roundRect">
            <a:avLst/>
          </a:prstGeom>
          <a:solidFill>
            <a:srgbClr val="E2F7F6"/>
          </a:solidFill>
          <a:ln w="15875">
            <a:solidFill>
              <a:srgbClr val="157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1399032"/>
            <a:ext cx="1463039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1000" b="1">
                <a:solidFill>
                  <a:srgbClr val="157F84"/>
                </a:solidFill>
                <a:latin typeface="Aptos"/>
              </a:defRPr>
            </a:pPr>
            <a:r>
              <a:t>BATCH /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1874519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" y="1847088"/>
            <a:ext cx="1837943" cy="475488"/>
          </a:xfrm>
          <a:prstGeom prst="roundRect">
            <a:avLst/>
          </a:prstGeom>
          <a:solidFill>
            <a:srgbClr val="2575BE"/>
          </a:solidFill>
          <a:ln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" y="2103120"/>
            <a:ext cx="1837943" cy="219456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874519"/>
            <a:ext cx="17282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414016"/>
            <a:ext cx="1655063" cy="5577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50" b="0">
                <a:solidFill>
                  <a:srgbClr val="1F3145"/>
                </a:solidFill>
                <a:latin typeface="Aptos"/>
              </a:defRPr>
            </a:pPr>
            <a:r>
              <a:t>User requests</a:t>
            </a:r>
            <a:br/>
            <a:r>
              <a:t>OpenTelemetry SDK</a:t>
            </a:r>
            <a:br/>
            <a:r>
              <a:t>(traces, metrics, logs)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37560"/>
            <a:ext cx="1874519" cy="11430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3355848"/>
            <a:ext cx="1837943" cy="475488"/>
          </a:xfrm>
          <a:prstGeom prst="roundRect">
            <a:avLst/>
          </a:prstGeom>
          <a:solidFill>
            <a:srgbClr val="2575BE"/>
          </a:solidFill>
          <a:ln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3611879"/>
            <a:ext cx="1837943" cy="219456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383279"/>
            <a:ext cx="172821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Outgoing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922776"/>
            <a:ext cx="1655063" cy="46634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50" b="0">
                <a:solidFill>
                  <a:srgbClr val="1F3145"/>
                </a:solidFill>
                <a:latin typeface="Aptos"/>
              </a:defRPr>
            </a:pPr>
            <a:r>
              <a:t>Calls API services</a:t>
            </a:r>
            <a:br/>
            <a:r>
              <a:t>and PerfDataQueueService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1874519" cy="64008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19" b="0">
                <a:solidFill>
                  <a:srgbClr val="164170"/>
                </a:solidFill>
                <a:latin typeface="Aptos"/>
              </a:defRPr>
            </a:pPr>
            <a:r>
              <a:t>Telemetry is captured</a:t>
            </a:r>
            <a:br/>
            <a:r>
              <a:t>at the application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99232" y="1828800"/>
            <a:ext cx="160020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17520" y="1847088"/>
            <a:ext cx="1563624" cy="475488"/>
          </a:xfrm>
          <a:prstGeom prst="roundRect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2103120"/>
            <a:ext cx="1563624" cy="219456"/>
          </a:xfrm>
          <a:prstGeom prst="rect">
            <a:avLst/>
          </a:prstGeom>
          <a:solidFill>
            <a:srgbClr val="6F4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72384" y="1874519"/>
            <a:ext cx="145389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API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2414016"/>
            <a:ext cx="1380744" cy="64922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10" b="0">
                <a:solidFill>
                  <a:srgbClr val="1F3145"/>
                </a:solidFill>
                <a:latin typeface="Aptos"/>
              </a:defRPr>
            </a:pPr>
            <a:r>
              <a:t>Web API / WCF /</a:t>
            </a:r>
            <a:br/>
            <a:r>
              <a:t>ASMX / Service Fabric</a:t>
            </a:r>
            <a:br/>
            <a:r>
              <a:t>Business + DB calls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1828800"/>
            <a:ext cx="182880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A8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73168" y="1847088"/>
            <a:ext cx="1792224" cy="475488"/>
          </a:xfrm>
          <a:prstGeom prst="roundRect">
            <a:avLst/>
          </a:prstGeom>
          <a:solidFill>
            <a:srgbClr val="3A8444"/>
          </a:solidFill>
          <a:ln>
            <a:solidFill>
              <a:srgbClr val="3A8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73168" y="2103120"/>
            <a:ext cx="1792224" cy="219456"/>
          </a:xfrm>
          <a:prstGeom prst="rect">
            <a:avLst/>
          </a:prstGeom>
          <a:solidFill>
            <a:srgbClr val="3A8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1874519"/>
            <a:ext cx="168249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PerfDataQueueService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2414016"/>
            <a:ext cx="1609344" cy="64922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00" b="0">
                <a:solidFill>
                  <a:srgbClr val="1F3145"/>
                </a:solidFill>
                <a:latin typeface="Aptos"/>
              </a:defRPr>
            </a:pPr>
            <a:r>
              <a:t>Receives telemetry from</a:t>
            </a:r>
            <a:br/>
            <a:r>
              <a:t>web app and API services;</a:t>
            </a:r>
            <a:br/>
            <a:r>
              <a:t>serializes and enqueues.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48272" y="1828800"/>
            <a:ext cx="1783080" cy="13258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66559" y="1847088"/>
            <a:ext cx="1746504" cy="475488"/>
          </a:xfrm>
          <a:prstGeom prst="roundRect">
            <a:avLst/>
          </a:prstGeom>
          <a:solidFill>
            <a:srgbClr val="2575BE"/>
          </a:solidFill>
          <a:ln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59" y="2103120"/>
            <a:ext cx="1746504" cy="219456"/>
          </a:xfrm>
          <a:prstGeom prst="rect">
            <a:avLst/>
          </a:prstGeom>
          <a:solidFill>
            <a:srgbClr val="25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1874519"/>
            <a:ext cx="163677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MSMQ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414016"/>
            <a:ext cx="1563624" cy="64922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30" b="0">
                <a:solidFill>
                  <a:srgbClr val="1F3145"/>
                </a:solidFill>
                <a:latin typeface="Aptos"/>
              </a:defRPr>
            </a:pPr>
            <a:r>
              <a:t>Asynchronous telemetry</a:t>
            </a:r>
            <a:br/>
            <a:r>
              <a:t>message buffer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703320"/>
            <a:ext cx="1828800" cy="14173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73168" y="3721607"/>
            <a:ext cx="1792224" cy="475488"/>
          </a:xfrm>
          <a:prstGeom prst="roundRect">
            <a:avLst/>
          </a:prstGeom>
          <a:solidFill>
            <a:srgbClr val="CE6410"/>
          </a:solidFill>
          <a:ln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73168" y="3977639"/>
            <a:ext cx="1792224" cy="219456"/>
          </a:xfrm>
          <a:prstGeom prst="rect">
            <a:avLst/>
          </a:prstGeom>
          <a:solidFill>
            <a:srgbClr val="CE6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28032" y="3749039"/>
            <a:ext cx="168249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PerfDataQueueReader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64608" y="4288536"/>
            <a:ext cx="1609344" cy="74066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900" b="0">
                <a:solidFill>
                  <a:srgbClr val="1F3145"/>
                </a:solidFill>
                <a:latin typeface="Aptos"/>
              </a:defRPr>
            </a:pPr>
            <a:r>
              <a:t>Windows service reads</a:t>
            </a:r>
            <a:br/>
            <a:r>
              <a:t>MSMQ continuously and</a:t>
            </a:r>
            <a:br/>
            <a:r>
              <a:t>inserts rows into PerfData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5349240"/>
            <a:ext cx="5440680" cy="22860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80" b="0">
                <a:solidFill>
                  <a:srgbClr val="6F4BB5"/>
                </a:solidFill>
                <a:latin typeface="Aptos"/>
              </a:defRPr>
            </a:pPr>
            <a:r>
              <a:t>API services and queue reader are hosted on the App Server</a:t>
            </a:r>
          </a:p>
        </p:txBody>
      </p:sp>
      <p:sp>
        <p:nvSpPr>
          <p:cNvPr id="45" name="Can 44"/>
          <p:cNvSpPr/>
          <p:nvPr/>
        </p:nvSpPr>
        <p:spPr>
          <a:xfrm>
            <a:off x="9253728" y="2240280"/>
            <a:ext cx="749808" cy="1005840"/>
          </a:xfrm>
          <a:prstGeom prst="can">
            <a:avLst/>
          </a:prstGeom>
          <a:solidFill>
            <a:srgbClr val="2575BE"/>
          </a:solidFill>
          <a:ln>
            <a:solidFill>
              <a:srgbClr val="25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288" y="3383280"/>
            <a:ext cx="932688" cy="64008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930" b="1">
                <a:solidFill>
                  <a:srgbClr val="1F3145"/>
                </a:solidFill>
                <a:latin typeface="Aptos"/>
              </a:defRPr>
            </a:pPr>
            <a:r>
              <a:t>PerfData DB</a:t>
            </a:r>
            <a:br/>
            <a:r>
              <a:t>(raw + processed</a:t>
            </a:r>
            <a:br/>
            <a:r>
              <a:t>telemetry)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297680"/>
            <a:ext cx="932688" cy="68580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80" b="0">
                <a:solidFill>
                  <a:srgbClr val="5B6D80"/>
                </a:solidFill>
                <a:latin typeface="Aptos"/>
              </a:defRPr>
            </a:pPr>
            <a:r>
              <a:t>Dedicated</a:t>
            </a:r>
            <a:br/>
            <a:r>
              <a:t>Database Server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1828800"/>
            <a:ext cx="1280160" cy="15087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442448" y="1847088"/>
            <a:ext cx="1243584" cy="475488"/>
          </a:xfrm>
          <a:prstGeom prst="roundRect">
            <a:avLst/>
          </a:prstGeom>
          <a:solidFill>
            <a:srgbClr val="CE6410"/>
          </a:solidFill>
          <a:ln>
            <a:solidFill>
              <a:srgbClr val="CE6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42448" y="2103120"/>
            <a:ext cx="1243584" cy="219456"/>
          </a:xfrm>
          <a:prstGeom prst="rect">
            <a:avLst/>
          </a:prstGeom>
          <a:solidFill>
            <a:srgbClr val="CE6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97312" y="1874519"/>
            <a:ext cx="113385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Batch Server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33888" y="2414016"/>
            <a:ext cx="1060704" cy="832103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850" b="0">
                <a:solidFill>
                  <a:srgbClr val="1F3145"/>
                </a:solidFill>
                <a:latin typeface="Aptos"/>
              </a:defRPr>
            </a:pPr>
            <a:r>
              <a:t>PerfDataBatchProcess</a:t>
            </a:r>
            <a:br/>
            <a:r>
              <a:t>runs hourly:</a:t>
            </a:r>
            <a:br/>
            <a:r>
              <a:t>aggregate, classify,</a:t>
            </a:r>
            <a:br/>
            <a:r>
              <a:t>clean up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24160" y="3703320"/>
            <a:ext cx="128016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57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442448" y="3721607"/>
            <a:ext cx="1243584" cy="475488"/>
          </a:xfrm>
          <a:prstGeom prst="roundRect">
            <a:avLst/>
          </a:prstGeom>
          <a:solidFill>
            <a:srgbClr val="157F84"/>
          </a:solidFill>
          <a:ln>
            <a:solidFill>
              <a:srgbClr val="157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442448" y="3977639"/>
            <a:ext cx="1243584" cy="219456"/>
          </a:xfrm>
          <a:prstGeom prst="rect">
            <a:avLst/>
          </a:prstGeom>
          <a:solidFill>
            <a:srgbClr val="157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97312" y="3749039"/>
            <a:ext cx="1133856" cy="393192"/>
          </a:xfrm>
          <a:prstGeom prst="rect">
            <a:avLst/>
          </a:prstGeom>
          <a:noFill/>
        </p:spPr>
        <p:txBody>
          <a:bodyPr wrap="square" lIns="18288" rIns="18288" tIns="27432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Dynatrace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33888" y="4288536"/>
            <a:ext cx="1060704" cy="557784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defRPr sz="880" b="0">
                <a:solidFill>
                  <a:srgbClr val="1F3145"/>
                </a:solidFill>
                <a:latin typeface="Aptos"/>
              </a:defRPr>
            </a:pPr>
            <a:r>
              <a:t>Optional: receives</a:t>
            </a:r>
            <a:br/>
            <a:r>
              <a:t>aggregated metrics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395728" y="2423160"/>
            <a:ext cx="557784" cy="0"/>
          </a:xfrm>
          <a:prstGeom prst="line">
            <a:avLst/>
          </a:prstGeom>
          <a:ln w="1905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395728" y="2075688"/>
            <a:ext cx="594360" cy="27432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770" b="1">
                <a:solidFill>
                  <a:srgbClr val="2575BE"/>
                </a:solidFill>
                <a:latin typeface="Aptos"/>
              </a:defRPr>
            </a:pPr>
            <a:r>
              <a:t>API calls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2395728" y="2880360"/>
            <a:ext cx="2304288" cy="1005840"/>
          </a:xfrm>
          <a:prstGeom prst="line">
            <a:avLst/>
          </a:prstGeom>
          <a:ln w="20320">
            <a:solidFill>
              <a:srgbClr val="3A8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926080" y="3337560"/>
            <a:ext cx="1463040" cy="32004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00" b="1">
                <a:solidFill>
                  <a:srgbClr val="3A8444"/>
                </a:solidFill>
                <a:latin typeface="Aptos"/>
              </a:defRPr>
            </a:pPr>
            <a:r>
              <a:t>Telemetry API call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599432" y="2487168"/>
            <a:ext cx="109728" cy="0"/>
          </a:xfrm>
          <a:prstGeom prst="line">
            <a:avLst/>
          </a:prstGeom>
          <a:ln w="19050">
            <a:solidFill>
              <a:srgbClr val="3A8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601968" y="2487168"/>
            <a:ext cx="100584" cy="0"/>
          </a:xfrm>
          <a:prstGeom prst="line">
            <a:avLst/>
          </a:prstGeom>
          <a:ln w="1905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446520" y="3182112"/>
            <a:ext cx="1188720" cy="475488"/>
          </a:xfrm>
          <a:prstGeom prst="line">
            <a:avLst/>
          </a:prstGeom>
          <a:ln w="20320">
            <a:solidFill>
              <a:srgbClr val="CE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629400" y="3246120"/>
            <a:ext cx="1325880" cy="27432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00" b="1">
                <a:solidFill>
                  <a:srgbClr val="CE6410"/>
                </a:solidFill>
                <a:latin typeface="Aptos"/>
              </a:defRPr>
            </a:pPr>
            <a:r>
              <a:t>Read messages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6601968" y="3063240"/>
            <a:ext cx="2542032" cy="1325880"/>
          </a:xfrm>
          <a:prstGeom prst="line">
            <a:avLst/>
          </a:prstGeom>
          <a:ln w="20320">
            <a:solidFill>
              <a:srgbClr val="257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315200" y="3794760"/>
            <a:ext cx="1371600" cy="292608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30" b="1">
                <a:solidFill>
                  <a:srgbClr val="2575BE"/>
                </a:solidFill>
                <a:latin typeface="Aptos"/>
              </a:defRPr>
            </a:pPr>
            <a:r>
              <a:t>Insert records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012680" y="2651760"/>
            <a:ext cx="365760" cy="0"/>
          </a:xfrm>
          <a:prstGeom prst="line">
            <a:avLst/>
          </a:prstGeom>
          <a:ln w="20320">
            <a:solidFill>
              <a:srgbClr val="CE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0012680" y="2148840"/>
            <a:ext cx="411480" cy="27432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750" b="1">
                <a:solidFill>
                  <a:srgbClr val="CE6410"/>
                </a:solidFill>
                <a:latin typeface="Aptos"/>
              </a:defRPr>
            </a:pPr>
            <a:r>
              <a:t>Read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1064240" y="3383280"/>
            <a:ext cx="0" cy="274320"/>
          </a:xfrm>
          <a:prstGeom prst="line">
            <a:avLst/>
          </a:prstGeom>
          <a:ln w="19050">
            <a:solidFill>
              <a:srgbClr val="157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424160" y="5074920"/>
            <a:ext cx="1280160" cy="41148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800" b="0">
                <a:solidFill>
                  <a:srgbClr val="157F84"/>
                </a:solidFill>
                <a:latin typeface="Aptos"/>
              </a:defRPr>
            </a:pPr>
            <a:r>
              <a:t>Metrics sent after</a:t>
            </a:r>
            <a:br/>
            <a:r>
              <a:t>processing (optional)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" y="5925312"/>
            <a:ext cx="11384280" cy="566928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B4C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5980176"/>
            <a:ext cx="11064240" cy="411480"/>
          </a:xfrm>
          <a:prstGeom prst="rect">
            <a:avLst/>
          </a:prstGeom>
          <a:noFill/>
        </p:spPr>
        <p:txBody>
          <a:bodyPr wrap="square" lIns="73152" rIns="73152" tIns="27432" bIns="18288" anchor="ctr">
            <a:spAutoFit/>
          </a:bodyPr>
          <a:lstStyle/>
          <a:p>
            <a:pPr algn="ctr">
              <a:defRPr sz="1019" b="1">
                <a:solidFill>
                  <a:srgbClr val="164170"/>
                </a:solidFill>
                <a:latin typeface="Aptos"/>
              </a:defRPr>
            </a:pPr>
            <a:r>
              <a:t>Deployment correction: PerfData DB is on a dedicated DB Server (not the App Server). PerfDataQueueService API enqueues; PerfDataQueueReader consumes from MSMQ and writes to the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