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Azure Blob Storage Migration – Future-State File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Presentation-ready overview for team / application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Objective: replace the current managed file-transfer component with Azure Blob Storage for the file exchange portion of the process.</a:t>
            </a:r>
          </a:p>
          <a:p>
            <a:pPr>
              <a:spcAft>
                <a:spcPts val="900"/>
              </a:spcAft>
              <a:defRPr sz="2000"/>
            </a:pPr>
            <a:r>
              <a:t>Focus of this POC: upload, internal file movement, claim processing handoff, response delivery, and user download.</a:t>
            </a:r>
          </a:p>
          <a:p>
            <a:pPr>
              <a:spcAft>
                <a:spcPts val="900"/>
              </a:spcAft>
              <a:defRPr sz="2000"/>
            </a:pPr>
            <a:r>
              <a:t>Existing claim-processing functionality remains unchanged.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Source: KT session transcript provided for this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Current State → Future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Current production flow uses GlobalScape as the managed file-transfer component.</a:t>
            </a:r>
          </a:p>
          <a:p>
            <a:pPr>
              <a:spcAft>
                <a:spcPts val="900"/>
              </a:spcAft>
              <a:defRPr sz="1700"/>
            </a:pPr>
            <a:r>
              <a:t>Future-state proposal replaces that component with Azure Blob Storage.</a:t>
            </a:r>
          </a:p>
          <a:p>
            <a:pPr>
              <a:spcAft>
                <a:spcPts val="900"/>
              </a:spcAft>
              <a:defRPr sz="1700"/>
            </a:pPr>
            <a:r>
              <a:t>The business/file-processing flow remains largely the same; the main change is how files are stored and moved.</a:t>
            </a:r>
          </a:p>
          <a:p>
            <a:pPr>
              <a:spcAft>
                <a:spcPts val="900"/>
              </a:spcAft>
              <a:defRPr sz="1700"/>
            </a:pPr>
            <a:r>
              <a:t>The KT identifies cost reduction as a major driver for the migration.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5544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Current</a:t>
            </a:r>
          </a:p>
          <a:p>
            <a:r>
              <a:t>GlobalScape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0" y="2011680"/>
            <a:ext cx="8229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235440" y="15544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Future</a:t>
            </a:r>
          </a:p>
          <a:p>
            <a:r>
              <a:t>Azure Blob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2004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Existing</a:t>
            </a:r>
          </a:p>
          <a:p>
            <a:r>
              <a:t>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Future-State Architecture – High-Level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240280"/>
            <a:ext cx="15087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Provider /</a:t>
            </a:r>
          </a:p>
          <a:p>
            <a:r>
              <a:t>Submitter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57400" y="2240280"/>
            <a:ext cx="15087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Blob Storage</a:t>
            </a:r>
          </a:p>
          <a:p>
            <a:r>
              <a:t>Public / Staging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2240280"/>
            <a:ext cx="15087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.NET Poller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2240280"/>
            <a:ext cx="15087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DCS Processing</a:t>
            </a:r>
          </a:p>
          <a:p>
            <a:r>
              <a:t>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240280"/>
            <a:ext cx="15087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Claim Processing</a:t>
            </a:r>
          </a:p>
          <a:p>
            <a:r>
              <a:t>Existing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2240280"/>
            <a:ext cx="15087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Response /</a:t>
            </a:r>
          </a:p>
          <a:p>
            <a:r>
              <a:t>Blob Private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697480"/>
            <a:ext cx="1371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2697480"/>
            <a:ext cx="3200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269748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69748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81160" y="269748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977639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/>
            </a:pPr>
            <a:r>
              <a:t>Key security principle</a:t>
            </a:r>
          </a:p>
          <a:p>
            <a:pPr>
              <a:defRPr sz="1700"/>
            </a:pPr>
            <a:r>
              <a:t>DCS is not exposed directly to the Internet. The internal .NET poller pulls files from Blob Storage through the internal/private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Upload Flow – Provider to DCS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234440"/>
            <a:ext cx="438912" cy="4389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1615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/>
            </a:pPr>
            <a:r>
              <a:t>Provider uploads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51960" y="1216152"/>
            <a:ext cx="6949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File enters the Blob Storage public endpoint.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48840"/>
            <a:ext cx="438912" cy="4389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3055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/>
            </a:pPr>
            <a:r>
              <a:t>File lands in staging / Dropbox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130552"/>
            <a:ext cx="6949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Blob Storage holds the file for pickup.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3240"/>
            <a:ext cx="438912" cy="4389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4495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/>
            </a:pPr>
            <a:r>
              <a:t>.NET poller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044952"/>
            <a:ext cx="6949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Scheduled poll checks for available files.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77639"/>
            <a:ext cx="438912" cy="4389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5935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/>
            </a:pPr>
            <a:r>
              <a:t>File is pulled internally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959352"/>
            <a:ext cx="6949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Poller retrieves the file from Blob Storage.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92040"/>
            <a:ext cx="438912" cy="4389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7375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/>
            </a:pPr>
            <a:r>
              <a:t>SFTP to DCS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873752"/>
            <a:ext cx="6949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Poller pushes the file to the DCS drop location.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69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Design point: Blob Storage → DCS is a pull pattern, not an Internet-facing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DCS Processing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011680"/>
            <a:ext cx="21488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DCS Drop</a:t>
            </a:r>
          </a:p>
          <a:p>
            <a:r>
              <a:t>/home/dropbox/common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0" y="2468880"/>
            <a:ext cx="9601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794760" y="2011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Existing Folder</a:t>
            </a:r>
          </a:p>
          <a:p>
            <a:r>
              <a:t>Monitor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06440" y="2468880"/>
            <a:ext cx="9601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66560" y="201168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Claim</a:t>
            </a:r>
          </a:p>
          <a:p>
            <a:r>
              <a:t>Processing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95360" y="2468880"/>
            <a:ext cx="9601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555480" y="2011680"/>
            <a:ext cx="1874519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Response /</a:t>
            </a:r>
          </a:p>
          <a:p>
            <a:r>
              <a:t>Delivery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The existing claim-processing process is not the migration target.</a:t>
            </a:r>
          </a:p>
          <a:p>
            <a:pPr>
              <a:spcAft>
                <a:spcPts val="900"/>
              </a:spcAft>
              <a:defRPr sz="1700"/>
            </a:pPr>
            <a:r>
              <a:t>The POC changes the file-transfer/storage boundary around the existing process.</a:t>
            </a:r>
          </a:p>
          <a:p>
            <a:pPr>
              <a:spcAft>
                <a:spcPts val="900"/>
              </a:spcAft>
              <a:defRPr sz="1700"/>
            </a:pPr>
            <a:r>
              <a:t>Response files are generated into the existing DCS response/delivery location.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Response and User Download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Response file appears in the DCS delivery folder.</a:t>
            </a:r>
          </a:p>
          <a:p>
            <a:pPr>
              <a:spcAft>
                <a:spcPts val="900"/>
              </a:spcAft>
              <a:defRPr sz="1700"/>
            </a:pPr>
            <a:r>
              <a:t>Second .NET poller detects the response file.</a:t>
            </a:r>
          </a:p>
          <a:p>
            <a:pPr>
              <a:spcAft>
                <a:spcPts val="900"/>
              </a:spcAft>
              <a:defRPr sz="1700"/>
            </a:pPr>
            <a:r>
              <a:t>Poller determines the intended submitter/user from the intelligent filename.</a:t>
            </a:r>
          </a:p>
          <a:p>
            <a:pPr>
              <a:spcAft>
                <a:spcPts val="900"/>
              </a:spcAft>
              <a:defRPr sz="1700"/>
            </a:pPr>
            <a:r>
              <a:t>Response is placed in the appropriate private/user area in Blob Storage.</a:t>
            </a:r>
          </a:p>
          <a:p>
            <a:pPr>
              <a:spcAft>
                <a:spcPts val="900"/>
              </a:spcAft>
              <a:defRPr sz="1700"/>
            </a:pPr>
            <a:r>
              <a:t>When the user logs in, an Azure Function checks whether files are available.</a:t>
            </a:r>
          </a:p>
          <a:p>
            <a:pPr>
              <a:spcAft>
                <a:spcPts val="900"/>
              </a:spcAft>
              <a:defRPr sz="1700"/>
            </a:pPr>
            <a:r>
              <a:t>Available files are copied to the user's public download location.</a:t>
            </a:r>
          </a:p>
          <a:p>
            <a:pPr>
              <a:spcAft>
                <a:spcPts val="900"/>
              </a:spcAft>
              <a:defRPr sz="1700"/>
            </a:pPr>
            <a:r>
              <a:t>User downloads the response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Polling vs. Event-Driven 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6459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Blob</a:t>
            </a:r>
          </a:p>
          <a:p>
            <a:r>
              <a:t>Staging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77440" y="1874519"/>
            <a:ext cx="8686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46120" y="146304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5-Minute</a:t>
            </a:r>
          </a:p>
          <a:p>
            <a:r>
              <a:t>.NET Poller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74920" y="1874519"/>
            <a:ext cx="8686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0" y="1463040"/>
            <a:ext cx="15544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16459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User Login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3749039"/>
            <a:ext cx="8686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333756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Azure</a:t>
            </a:r>
          </a:p>
          <a:p>
            <a:r>
              <a:t>Function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74920" y="3749039"/>
            <a:ext cx="8686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600" y="333756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User Download</a:t>
            </a:r>
          </a:p>
          <a:p>
            <a:r>
              <a:t>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For the POC, file movement to/from DCS is described as scheduled polling.</a:t>
            </a:r>
          </a:p>
          <a:p>
            <a:pPr>
              <a:spcAft>
                <a:spcPts val="900"/>
              </a:spcAft>
              <a:defRPr sz="1500"/>
            </a:pPr>
            <a:r>
              <a:t>The KT discusses a future message-driven/event approach as a possible optimization, but it is not the selected POC pattern.</a:t>
            </a:r>
          </a:p>
          <a:p>
            <a:pPr>
              <a:spcAft>
                <a:spcPts val="900"/>
              </a:spcAft>
              <a:defRPr sz="1500"/>
            </a:pPr>
            <a:r>
              <a:t>User-login processing is described as event-driven through an Azure Function.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Security and Network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Blob Storage is internet-facing for external submitter interaction.</a:t>
            </a:r>
          </a:p>
          <a:p>
            <a:pPr>
              <a:spcAft>
                <a:spcPts val="900"/>
              </a:spcAft>
              <a:defRPr sz="1700"/>
            </a:pPr>
            <a:r>
              <a:t>DCS should not accept direct Internet traffic.</a:t>
            </a:r>
          </a:p>
          <a:p>
            <a:pPr>
              <a:spcAft>
                <a:spcPts val="900"/>
              </a:spcAft>
              <a:defRPr sz="1700"/>
            </a:pPr>
            <a:r>
              <a:t>DCS accesses Blob Storage through the internal/private endpoint path.</a:t>
            </a:r>
          </a:p>
          <a:p>
            <a:pPr>
              <a:spcAft>
                <a:spcPts val="900"/>
              </a:spcAft>
              <a:defRPr sz="1700"/>
            </a:pPr>
            <a:r>
              <a:t>The KT describes using the Microsoft ExpressRoute/private network path for movement between the data center and Azure.</a:t>
            </a:r>
          </a:p>
          <a:p>
            <a:pPr>
              <a:spcAft>
                <a:spcPts val="900"/>
              </a:spcAft>
              <a:defRPr sz="1700"/>
            </a:pPr>
            <a:r>
              <a:t>Firewall connectivity between the processing environment and Blob Storage is an infrastructure dependency to be opened/validated.</a:t>
            </a:r>
          </a:p>
          <a:p>
            <a:pPr>
              <a:spcAft>
                <a:spcPts val="900"/>
              </a:spcAft>
              <a:defRPr sz="1700"/>
            </a:pPr>
            <a:r>
              <a:t>SSH keys for submitters are a separate concern and are explicitly outside the technical POC scope.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POC Scope and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Application / .NET team</a:t>
            </a:r>
          </a:p>
          <a:p>
            <a:pPr lvl="1">
              <a:spcAft>
                <a:spcPts val="900"/>
              </a:spcAft>
              <a:defRPr sz="1500"/>
            </a:pPr>
            <a:r>
              <a:t>Build the poller that retrieves files from Blob Storage and delivers them to DCS.</a:t>
            </a:r>
          </a:p>
          <a:p>
            <a:pPr lvl="1">
              <a:spcAft>
                <a:spcPts val="900"/>
              </a:spcAft>
              <a:defRPr sz="1500"/>
            </a:pPr>
            <a:r>
              <a:t>Build the response poller that moves DCS response files into the appropriate Blob Storage location.</a:t>
            </a:r>
          </a:p>
          <a:p>
            <a:pPr lvl="1">
              <a:spcAft>
                <a:spcPts val="900"/>
              </a:spcAft>
              <a:defRPr sz="1500"/>
            </a:pPr>
            <a:r>
              <a:t>Implement filename-based routing to the correct user/submitter folder.</a:t>
            </a:r>
          </a:p>
          <a:p>
            <a:pPr>
              <a:spcAft>
                <a:spcPts val="900"/>
              </a:spcAft>
              <a:defRPr sz="1600"/>
            </a:pPr>
            <a:r>
              <a:t>Azure / infrastructure</a:t>
            </a:r>
          </a:p>
          <a:p>
            <a:pPr lvl="1">
              <a:spcAft>
                <a:spcPts val="900"/>
              </a:spcAft>
              <a:defRPr sz="1500"/>
            </a:pPr>
            <a:r>
              <a:t>Provision Blob Storage, private endpoint/network connectivity, and required firewall access.</a:t>
            </a:r>
          </a:p>
          <a:p>
            <a:pPr lvl="1">
              <a:spcAft>
                <a:spcPts val="900"/>
              </a:spcAft>
              <a:defRPr sz="1500"/>
            </a:pPr>
            <a:r>
              <a:t>Support the Azure Function used for login-triggered download preparation.</a:t>
            </a:r>
          </a:p>
          <a:p>
            <a:pPr>
              <a:spcAft>
                <a:spcPts val="900"/>
              </a:spcAft>
              <a:defRPr sz="1600"/>
            </a:pPr>
            <a:r>
              <a:t>Out of scope / later</a:t>
            </a:r>
          </a:p>
          <a:p>
            <a:pPr lvl="1">
              <a:spcAft>
                <a:spcPts val="900"/>
              </a:spcAft>
              <a:defRPr sz="1500"/>
            </a:pPr>
            <a:r>
              <a:t>Submitter SSH-key delivery/management process.</a:t>
            </a:r>
          </a:p>
          <a:p>
            <a:pPr lvl="1">
              <a:spcAft>
                <a:spcPts val="900"/>
              </a:spcAft>
              <a:defRPr sz="1500"/>
            </a:pPr>
            <a:r>
              <a:t>More advanced message-bus/event-driven optimization.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Open Items for Team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Confirm exact Blob container/folder structure for staging, private user folders, and public download folders.</a:t>
            </a:r>
          </a:p>
          <a:p>
            <a:pPr>
              <a:spcAft>
                <a:spcPts val="900"/>
              </a:spcAft>
              <a:defRPr sz="1700"/>
            </a:pPr>
            <a:r>
              <a:t>Confirm filename convention and the exact submitter/user identifier used for routing.</a:t>
            </a:r>
          </a:p>
          <a:p>
            <a:pPr>
              <a:spcAft>
                <a:spcPts val="900"/>
              </a:spcAft>
              <a:defRPr sz="1700"/>
            </a:pPr>
            <a:r>
              <a:t>Confirm polling interval and duplicate/retry handling.</a:t>
            </a:r>
          </a:p>
          <a:p>
            <a:pPr>
              <a:spcAft>
                <a:spcPts val="900"/>
              </a:spcAft>
              <a:defRPr sz="1700"/>
            </a:pPr>
            <a:r>
              <a:t>Confirm SFTP endpoint, folder permissions, and service-account access from the processing environment.</a:t>
            </a:r>
          </a:p>
          <a:p>
            <a:pPr>
              <a:spcAft>
                <a:spcPts val="900"/>
              </a:spcAft>
              <a:defRPr sz="1700"/>
            </a:pPr>
            <a:r>
              <a:t>Confirm private endpoint, ExpressRoute, DNS, and firewall requirements.</a:t>
            </a:r>
          </a:p>
          <a:p>
            <a:pPr>
              <a:spcAft>
                <a:spcPts val="900"/>
              </a:spcAft>
              <a:defRPr sz="1700"/>
            </a:pPr>
            <a:r>
              <a:t>Define response-file retention and cleanup rules for the public download area.</a:t>
            </a:r>
          </a:p>
          <a:p>
            <a:pPr>
              <a:spcAft>
                <a:spcPts val="900"/>
              </a:spcAft>
              <a:defRPr sz="1700"/>
            </a:pPr>
            <a:r>
              <a:t>Confirm Azure Function trigger/source for user login events.</a:t>
            </a:r>
          </a:p>
          <a:p>
            <a:pPr>
              <a:spcAft>
                <a:spcPts val="900"/>
              </a:spcAft>
              <a:defRPr sz="1700"/>
            </a:pPr>
            <a:r>
              <a:t>Document monitoring, logging, alerting, and failure/reprocessing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One-Slide End-to-End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2331720"/>
            <a:ext cx="1143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Provider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0" y="2697480"/>
            <a:ext cx="411479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74519" y="2331720"/>
            <a:ext cx="12344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Blob</a:t>
            </a:r>
          </a:p>
          <a:p>
            <a:r>
              <a:t>Staging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269748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20440" y="2331720"/>
            <a:ext cx="12344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.NET</a:t>
            </a:r>
          </a:p>
          <a:p>
            <a:r>
              <a:t>Poller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54880" y="269748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60" y="2331720"/>
            <a:ext cx="10515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0" y="269748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29400" y="2331720"/>
            <a:ext cx="14173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Claim</a:t>
            </a:r>
          </a:p>
          <a:p>
            <a:r>
              <a:t>Processing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269748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58200" y="2331720"/>
            <a:ext cx="13258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Response</a:t>
            </a:r>
          </a:p>
          <a:p>
            <a:r>
              <a:t>Folder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84080" y="269748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95560" y="2331720"/>
            <a:ext cx="13258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Blob</a:t>
            </a:r>
          </a:p>
          <a:p>
            <a:r>
              <a:t>Private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3192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User Login → Azure Function → User Download Area →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Prepared from the provided KT session transcript; items not established in the transcript are listed as open items.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