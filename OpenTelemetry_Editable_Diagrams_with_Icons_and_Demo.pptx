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46304"/>
            <a:ext cx="10789920" cy="41148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2300" b="1">
                <a:solidFill>
                  <a:srgbClr val="143D69"/>
                </a:solidFill>
                <a:latin typeface="Aptos"/>
              </a:defRPr>
            </a:pPr>
            <a:r>
              <a:t>OpenTelemetry Integration | 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155680" cy="292608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1050" b="0">
                <a:solidFill>
                  <a:srgbClr val="5E6F82"/>
                </a:solidFill>
                <a:latin typeface="Aptos"/>
              </a:defRPr>
            </a:pPr>
            <a:r>
              <a:t>Both the Web Application and API Services call PerfDataQueueService API; the service writes telemetry to MSMQ.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32004"/>
          </a:xfrm>
          <a:prstGeom prst="rect">
            <a:avLst/>
          </a:prstGeom>
          <a:solidFill>
            <a:srgbClr val="2373BE"/>
          </a:solidFill>
          <a:ln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32004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r">
              <a:defRPr sz="1200" b="1">
                <a:solidFill>
                  <a:srgbClr val="2373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600200"/>
            <a:ext cx="1481328" cy="2423160"/>
          </a:xfrm>
          <a:prstGeom prst="roundRect">
            <a:avLst/>
          </a:prstGeom>
          <a:solidFill>
            <a:srgbClr val="E7F3FF"/>
          </a:solidFill>
          <a:ln w="1524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3756" y="1613916"/>
            <a:ext cx="1453896" cy="420624"/>
          </a:xfrm>
          <a:prstGeom prst="roundRect">
            <a:avLst/>
          </a:prstGeom>
          <a:solidFill>
            <a:srgbClr val="2373BE"/>
          </a:solidFill>
          <a:ln w="635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3756" y="1856232"/>
            <a:ext cx="1453896" cy="173736"/>
          </a:xfrm>
          <a:prstGeom prst="rect">
            <a:avLst/>
          </a:prstGeom>
          <a:solidFill>
            <a:srgbClr val="2373BE"/>
          </a:solidFill>
          <a:ln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79" y="166878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73B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1632204"/>
            <a:ext cx="996696" cy="356616"/>
          </a:xfrm>
          <a:prstGeom prst="rect">
            <a:avLst/>
          </a:prstGeom>
          <a:noFill/>
        </p:spPr>
        <p:txBody>
          <a:bodyPr wrap="square" lIns="13716" rIns="13716" tIns="22860" bIns="18288" anchor="ctr">
            <a:sp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Aptos"/>
              </a:defRPr>
            </a:pPr>
            <a:r>
              <a:t>Web Application</a:t>
            </a:r>
            <a:br/>
            <a:r>
              <a:t>(Web Server)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" y="2130552"/>
            <a:ext cx="450799" cy="3108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" y="2130552"/>
            <a:ext cx="450799" cy="69951"/>
          </a:xfrm>
          <a:prstGeom prst="rect">
            <a:avLst/>
          </a:prstGeom>
          <a:solidFill>
            <a:srgbClr val="2373BE"/>
          </a:solidFill>
          <a:ln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8738" y="2149983"/>
            <a:ext cx="19431" cy="19431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3145" y="2149983"/>
            <a:ext cx="19431" cy="19431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7552" y="2149983"/>
            <a:ext cx="19431" cy="19431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624328"/>
            <a:ext cx="1298448" cy="1344168"/>
          </a:xfrm>
          <a:prstGeom prst="rect">
            <a:avLst/>
          </a:prstGeom>
          <a:noFill/>
        </p:spPr>
        <p:txBody>
          <a:bodyPr wrap="square" lIns="32004" rIns="32004" tIns="22860" bIns="18288" anchor="t">
            <a:spAutoFit/>
          </a:bodyPr>
          <a:lstStyle/>
          <a:p>
            <a:pPr algn="ctr">
              <a:defRPr sz="850" b="0">
                <a:solidFill>
                  <a:srgbClr val="233448"/>
                </a:solidFill>
                <a:latin typeface="Aptos"/>
              </a:defRPr>
            </a:pPr>
            <a:r>
              <a:t>Captures traces,</a:t>
            </a:r>
            <a:br/>
            <a:r>
              <a:t>metrics and logs.</a:t>
            </a:r>
            <a:br/>
            <a:br/>
            <a:r>
              <a:t>Calls API Services</a:t>
            </a:r>
            <a:br/>
            <a:r>
              <a:t>and PerfDataQueueService.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29968" y="1600200"/>
            <a:ext cx="1481328" cy="2423160"/>
          </a:xfrm>
          <a:prstGeom prst="roundRect">
            <a:avLst/>
          </a:prstGeom>
          <a:solidFill>
            <a:srgbClr val="F4EEFF"/>
          </a:solidFill>
          <a:ln w="15240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43684" y="1613916"/>
            <a:ext cx="1453896" cy="420624"/>
          </a:xfrm>
          <a:prstGeom prst="roundRect">
            <a:avLst/>
          </a:prstGeom>
          <a:solidFill>
            <a:srgbClr val="6F4BB5"/>
          </a:solidFill>
          <a:ln w="6350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43684" y="1856232"/>
            <a:ext cx="1453896" cy="173736"/>
          </a:xfrm>
          <a:prstGeom prst="rect">
            <a:avLst/>
          </a:prstGeom>
          <a:solidFill>
            <a:srgbClr val="6F4BB5"/>
          </a:solidFill>
          <a:ln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166878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F4BB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0592" y="1632204"/>
            <a:ext cx="996696" cy="356616"/>
          </a:xfrm>
          <a:prstGeom prst="rect">
            <a:avLst/>
          </a:prstGeom>
          <a:noFill/>
        </p:spPr>
        <p:txBody>
          <a:bodyPr wrap="square" lIns="13716" rIns="13716" tIns="22860" bIns="18288" anchor="ctr">
            <a:sp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Aptos"/>
              </a:defRPr>
            </a:pPr>
            <a:r>
              <a:t>API Services</a:t>
            </a:r>
            <a:br/>
            <a:r>
              <a:t>(App Server)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2130552"/>
            <a:ext cx="395020" cy="86410"/>
          </a:xfrm>
          <a:prstGeom prst="roundRect">
            <a:avLst/>
          </a:prstGeom>
          <a:solidFill>
            <a:srgbClr val="6F4BB5"/>
          </a:solidFill>
          <a:ln w="7620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1468" y="2159355"/>
            <a:ext cx="28803" cy="2880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83764" y="2159355"/>
            <a:ext cx="181051" cy="2057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0" y="2245766"/>
            <a:ext cx="395020" cy="86410"/>
          </a:xfrm>
          <a:prstGeom prst="roundRect">
            <a:avLst/>
          </a:prstGeom>
          <a:solidFill>
            <a:srgbClr val="6F4BB5"/>
          </a:solidFill>
          <a:ln w="7620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1468" y="2274570"/>
            <a:ext cx="28803" cy="2880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83764" y="2274570"/>
            <a:ext cx="181051" cy="2057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60320" y="2360980"/>
            <a:ext cx="395020" cy="86410"/>
          </a:xfrm>
          <a:prstGeom prst="roundRect">
            <a:avLst/>
          </a:prstGeom>
          <a:solidFill>
            <a:srgbClr val="6F4BB5"/>
          </a:solidFill>
          <a:ln w="7620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601468" y="2389784"/>
            <a:ext cx="28803" cy="2880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83764" y="2389784"/>
            <a:ext cx="181051" cy="2057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21408" y="2624328"/>
            <a:ext cx="1298448" cy="1344168"/>
          </a:xfrm>
          <a:prstGeom prst="rect">
            <a:avLst/>
          </a:prstGeom>
          <a:noFill/>
        </p:spPr>
        <p:txBody>
          <a:bodyPr wrap="square" lIns="32004" rIns="32004" tIns="22860" bIns="18288" anchor="t">
            <a:spAutoFit/>
          </a:bodyPr>
          <a:lstStyle/>
          <a:p>
            <a:pPr algn="ctr">
              <a:defRPr sz="850" b="0">
                <a:solidFill>
                  <a:srgbClr val="233448"/>
                </a:solidFill>
                <a:latin typeface="Aptos"/>
              </a:defRPr>
            </a:pPr>
            <a:r>
              <a:t>Execute business logic</a:t>
            </a:r>
            <a:br/>
            <a:r>
              <a:t>and DB calls.</a:t>
            </a:r>
            <a:br/>
            <a:br/>
            <a:r>
              <a:t>Capture telemetry and</a:t>
            </a:r>
            <a:br/>
            <a:r>
              <a:t>call PerfDataQueueService.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39896" y="1600200"/>
            <a:ext cx="1627632" cy="2423160"/>
          </a:xfrm>
          <a:prstGeom prst="roundRect">
            <a:avLst/>
          </a:prstGeom>
          <a:solidFill>
            <a:srgbClr val="EBF8E9"/>
          </a:solidFill>
          <a:ln w="15240">
            <a:solidFill>
              <a:srgbClr val="388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753611" y="1613916"/>
            <a:ext cx="1600200" cy="420624"/>
          </a:xfrm>
          <a:prstGeom prst="roundRect">
            <a:avLst/>
          </a:prstGeom>
          <a:solidFill>
            <a:srgbClr val="388244"/>
          </a:solidFill>
          <a:ln w="6350">
            <a:solidFill>
              <a:srgbClr val="388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53611" y="1856232"/>
            <a:ext cx="1600200" cy="173736"/>
          </a:xfrm>
          <a:prstGeom prst="rect">
            <a:avLst/>
          </a:prstGeom>
          <a:solidFill>
            <a:srgbClr val="388244"/>
          </a:solidFill>
          <a:ln>
            <a:solidFill>
              <a:srgbClr val="388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831335" y="166878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824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1632204"/>
            <a:ext cx="1143000" cy="356616"/>
          </a:xfrm>
          <a:prstGeom prst="rect">
            <a:avLst/>
          </a:prstGeom>
          <a:noFill/>
        </p:spPr>
        <p:txBody>
          <a:bodyPr wrap="square" lIns="13716" rIns="13716" tIns="22860" bIns="18288" anchor="ctr">
            <a:sp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Aptos"/>
              </a:defRPr>
            </a:pPr>
            <a:r>
              <a:t>PerfDataQueueService</a:t>
            </a:r>
            <a:br/>
            <a:r>
              <a:t>API (App Server)</a:t>
            </a:r>
          </a:p>
        </p:txBody>
      </p:sp>
      <p:sp>
        <p:nvSpPr>
          <p:cNvPr id="37" name="Gear 6 36"/>
          <p:cNvSpPr/>
          <p:nvPr/>
        </p:nvSpPr>
        <p:spPr>
          <a:xfrm>
            <a:off x="4325112" y="2130552"/>
            <a:ext cx="452628" cy="452628"/>
          </a:xfrm>
          <a:prstGeom prst="gear6">
            <a:avLst/>
          </a:prstGeom>
          <a:solidFill>
            <a:srgbClr val="388244"/>
          </a:solidFill>
          <a:ln>
            <a:solidFill>
              <a:srgbClr val="388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81474" y="2286914"/>
            <a:ext cx="139903" cy="13990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31335" y="2624328"/>
            <a:ext cx="1444752" cy="1344168"/>
          </a:xfrm>
          <a:prstGeom prst="rect">
            <a:avLst/>
          </a:prstGeom>
          <a:noFill/>
        </p:spPr>
        <p:txBody>
          <a:bodyPr wrap="square" lIns="32004" rIns="32004" tIns="22860" bIns="18288" anchor="t">
            <a:spAutoFit/>
          </a:bodyPr>
          <a:lstStyle/>
          <a:p>
            <a:pPr algn="ctr">
              <a:defRPr sz="850" b="0">
                <a:solidFill>
                  <a:srgbClr val="233448"/>
                </a:solidFill>
                <a:latin typeface="Aptos"/>
              </a:defRPr>
            </a:pPr>
            <a:r>
              <a:t>Receives telemetry from</a:t>
            </a:r>
            <a:br/>
            <a:r>
              <a:t>both callers and writes</a:t>
            </a:r>
            <a:br/>
            <a:r>
              <a:t>messages to MSMQ.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96128" y="1600200"/>
            <a:ext cx="1417320" cy="2423160"/>
          </a:xfrm>
          <a:prstGeom prst="roundRect">
            <a:avLst/>
          </a:prstGeom>
          <a:solidFill>
            <a:srgbClr val="E7F3FF"/>
          </a:solidFill>
          <a:ln w="1524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09844" y="1613916"/>
            <a:ext cx="1389888" cy="420624"/>
          </a:xfrm>
          <a:prstGeom prst="roundRect">
            <a:avLst/>
          </a:prstGeom>
          <a:solidFill>
            <a:srgbClr val="2373BE"/>
          </a:solidFill>
          <a:ln w="635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09844" y="1856232"/>
            <a:ext cx="1389888" cy="173736"/>
          </a:xfrm>
          <a:prstGeom prst="rect">
            <a:avLst/>
          </a:prstGeom>
          <a:solidFill>
            <a:srgbClr val="2373BE"/>
          </a:solidFill>
          <a:ln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87568" y="166878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73B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16752" y="1632204"/>
            <a:ext cx="932688" cy="356616"/>
          </a:xfrm>
          <a:prstGeom prst="rect">
            <a:avLst/>
          </a:prstGeom>
          <a:noFill/>
        </p:spPr>
        <p:txBody>
          <a:bodyPr wrap="square" lIns="13716" rIns="13716" tIns="22860" bIns="18288" anchor="ctr">
            <a:sp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Aptos"/>
              </a:defRPr>
            </a:pPr>
            <a:r>
              <a:t>MSMQ Queue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76188" y="2196388"/>
            <a:ext cx="395020" cy="345643"/>
          </a:xfrm>
          <a:prstGeom prst="roundRect">
            <a:avLst/>
          </a:prstGeom>
          <a:solidFill>
            <a:srgbClr val="2373BE"/>
          </a:solidFill>
          <a:ln w="889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133795" y="2262225"/>
            <a:ext cx="57607" cy="19751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232550" y="2262225"/>
            <a:ext cx="57607" cy="19751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31305" y="2262225"/>
            <a:ext cx="57607" cy="19751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87568" y="2624328"/>
            <a:ext cx="1234440" cy="1344168"/>
          </a:xfrm>
          <a:prstGeom prst="rect">
            <a:avLst/>
          </a:prstGeom>
          <a:noFill/>
        </p:spPr>
        <p:txBody>
          <a:bodyPr wrap="square" lIns="32004" rIns="32004" tIns="22860" bIns="18288" anchor="t">
            <a:spAutoFit/>
          </a:bodyPr>
          <a:lstStyle/>
          <a:p>
            <a:pPr algn="ctr">
              <a:defRPr sz="850" b="0">
                <a:solidFill>
                  <a:srgbClr val="233448"/>
                </a:solidFill>
                <a:latin typeface="Aptos"/>
              </a:defRPr>
            </a:pPr>
            <a:r>
              <a:t>Buffers telemetry</a:t>
            </a:r>
            <a:br/>
            <a:r>
              <a:t>messages asynchronously</a:t>
            </a:r>
            <a:br/>
            <a:r>
              <a:t>for downstream processing.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42048" y="1600200"/>
            <a:ext cx="1572768" cy="2423160"/>
          </a:xfrm>
          <a:prstGeom prst="roundRect">
            <a:avLst/>
          </a:prstGeom>
          <a:solidFill>
            <a:srgbClr val="FFF2E2"/>
          </a:solidFill>
          <a:ln w="15240">
            <a:solidFill>
              <a:srgbClr val="CC6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255764" y="1613916"/>
            <a:ext cx="1545336" cy="420624"/>
          </a:xfrm>
          <a:prstGeom prst="roundRect">
            <a:avLst/>
          </a:prstGeom>
          <a:solidFill>
            <a:srgbClr val="CC6312"/>
          </a:solidFill>
          <a:ln w="6350">
            <a:solidFill>
              <a:srgbClr val="CC6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55764" y="1856232"/>
            <a:ext cx="1545336" cy="173736"/>
          </a:xfrm>
          <a:prstGeom prst="rect">
            <a:avLst/>
          </a:prstGeom>
          <a:solidFill>
            <a:srgbClr val="CC6312"/>
          </a:solidFill>
          <a:ln>
            <a:solidFill>
              <a:srgbClr val="CC6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333488" y="166878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C631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62672" y="1632204"/>
            <a:ext cx="1088136" cy="356616"/>
          </a:xfrm>
          <a:prstGeom prst="rect">
            <a:avLst/>
          </a:prstGeom>
          <a:noFill/>
        </p:spPr>
        <p:txBody>
          <a:bodyPr wrap="square" lIns="13716" rIns="13716" tIns="22860" bIns="18288" anchor="ctr">
            <a:sp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Aptos"/>
              </a:defRPr>
            </a:pPr>
            <a:r>
              <a:t>PerfDataQueueReader</a:t>
            </a:r>
            <a:br/>
            <a:r>
              <a:t>(App Server)</a:t>
            </a:r>
          </a:p>
        </p:txBody>
      </p:sp>
      <p:sp>
        <p:nvSpPr>
          <p:cNvPr id="55" name="Gear 6 54"/>
          <p:cNvSpPr/>
          <p:nvPr/>
        </p:nvSpPr>
        <p:spPr>
          <a:xfrm>
            <a:off x="7799831" y="2130552"/>
            <a:ext cx="452628" cy="452628"/>
          </a:xfrm>
          <a:prstGeom prst="gear6">
            <a:avLst/>
          </a:prstGeom>
          <a:solidFill>
            <a:srgbClr val="CC6312"/>
          </a:solidFill>
          <a:ln>
            <a:solidFill>
              <a:srgbClr val="CC6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56194" y="2286914"/>
            <a:ext cx="139903" cy="13990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33488" y="2624328"/>
            <a:ext cx="1389888" cy="1344168"/>
          </a:xfrm>
          <a:prstGeom prst="rect">
            <a:avLst/>
          </a:prstGeom>
          <a:noFill/>
        </p:spPr>
        <p:txBody>
          <a:bodyPr wrap="square" lIns="32004" rIns="32004" tIns="22860" bIns="18288" anchor="t">
            <a:spAutoFit/>
          </a:bodyPr>
          <a:lstStyle/>
          <a:p>
            <a:pPr algn="ctr">
              <a:defRPr sz="850" b="0">
                <a:solidFill>
                  <a:srgbClr val="233448"/>
                </a:solidFill>
                <a:latin typeface="Aptos"/>
              </a:defRPr>
            </a:pPr>
            <a:r>
              <a:t>Continuously reads</a:t>
            </a:r>
            <a:br/>
            <a:r>
              <a:t>MSMQ and inserts</a:t>
            </a:r>
            <a:br/>
            <a:r>
              <a:t>records into PerfData DB.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43416" y="1600200"/>
            <a:ext cx="1353312" cy="2423160"/>
          </a:xfrm>
          <a:prstGeom prst="roundRect">
            <a:avLst/>
          </a:prstGeom>
          <a:solidFill>
            <a:srgbClr val="F4EEFF"/>
          </a:solidFill>
          <a:ln w="15240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9057132" y="1613916"/>
            <a:ext cx="1325880" cy="420624"/>
          </a:xfrm>
          <a:prstGeom prst="roundRect">
            <a:avLst/>
          </a:prstGeom>
          <a:solidFill>
            <a:srgbClr val="6F4BB5"/>
          </a:solidFill>
          <a:ln w="6350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57132" y="1856232"/>
            <a:ext cx="1325880" cy="173736"/>
          </a:xfrm>
          <a:prstGeom prst="rect">
            <a:avLst/>
          </a:prstGeom>
          <a:solidFill>
            <a:srgbClr val="6F4BB5"/>
          </a:solidFill>
          <a:ln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134856" y="166878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F4BB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64040" y="1632204"/>
            <a:ext cx="868680" cy="356616"/>
          </a:xfrm>
          <a:prstGeom prst="rect">
            <a:avLst/>
          </a:prstGeom>
          <a:noFill/>
        </p:spPr>
        <p:txBody>
          <a:bodyPr wrap="square" lIns="13716" rIns="13716" tIns="22860" bIns="18288" anchor="ctr">
            <a:sp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Aptos"/>
              </a:defRPr>
            </a:pPr>
            <a:r>
              <a:t>PerfData DB</a:t>
            </a:r>
            <a:br/>
            <a:r>
              <a:t>(DB Server)</a:t>
            </a:r>
          </a:p>
        </p:txBody>
      </p:sp>
      <p:sp>
        <p:nvSpPr>
          <p:cNvPr id="63" name="Can 62"/>
          <p:cNvSpPr/>
          <p:nvPr/>
        </p:nvSpPr>
        <p:spPr>
          <a:xfrm>
            <a:off x="9491472" y="2130552"/>
            <a:ext cx="427939" cy="510235"/>
          </a:xfrm>
          <a:prstGeom prst="can">
            <a:avLst/>
          </a:prstGeom>
          <a:solidFill>
            <a:srgbClr val="6F4BB5"/>
          </a:solidFill>
          <a:ln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9524390" y="2278684"/>
            <a:ext cx="362102" cy="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524390" y="2426817"/>
            <a:ext cx="362102" cy="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134856" y="2624328"/>
            <a:ext cx="1170432" cy="1344168"/>
          </a:xfrm>
          <a:prstGeom prst="rect">
            <a:avLst/>
          </a:prstGeom>
          <a:noFill/>
        </p:spPr>
        <p:txBody>
          <a:bodyPr wrap="square" lIns="32004" rIns="32004" tIns="22860" bIns="18288" anchor="t">
            <a:spAutoFit/>
          </a:bodyPr>
          <a:lstStyle/>
          <a:p>
            <a:pPr algn="ctr">
              <a:defRPr sz="850" b="0">
                <a:solidFill>
                  <a:srgbClr val="233448"/>
                </a:solidFill>
                <a:latin typeface="Aptos"/>
              </a:defRPr>
            </a:pPr>
            <a:r>
              <a:t>Stores raw telemetry</a:t>
            </a:r>
            <a:br/>
            <a:r>
              <a:t>and processed records.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625328" y="1600200"/>
            <a:ext cx="1252728" cy="2423160"/>
          </a:xfrm>
          <a:prstGeom prst="roundRect">
            <a:avLst/>
          </a:prstGeom>
          <a:solidFill>
            <a:srgbClr val="E4F8F7"/>
          </a:solidFill>
          <a:ln w="15240">
            <a:solidFill>
              <a:srgbClr val="12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639044" y="1613916"/>
            <a:ext cx="1225296" cy="420624"/>
          </a:xfrm>
          <a:prstGeom prst="roundRect">
            <a:avLst/>
          </a:prstGeom>
          <a:solidFill>
            <a:srgbClr val="127E84"/>
          </a:solidFill>
          <a:ln w="6350">
            <a:solidFill>
              <a:srgbClr val="12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639044" y="1856232"/>
            <a:ext cx="1225296" cy="173736"/>
          </a:xfrm>
          <a:prstGeom prst="rect">
            <a:avLst/>
          </a:prstGeom>
          <a:solidFill>
            <a:srgbClr val="127E84"/>
          </a:solidFill>
          <a:ln>
            <a:solidFill>
              <a:srgbClr val="12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16767" y="166878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27E8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45952" y="1632204"/>
            <a:ext cx="768096" cy="356616"/>
          </a:xfrm>
          <a:prstGeom prst="rect">
            <a:avLst/>
          </a:prstGeom>
          <a:noFill/>
        </p:spPr>
        <p:txBody>
          <a:bodyPr wrap="square" lIns="13716" rIns="13716" tIns="22860" bIns="18288" anchor="ctr">
            <a:sp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Aptos"/>
              </a:defRPr>
            </a:pPr>
            <a:r>
              <a:t>PerfDataBatchProcess</a:t>
            </a:r>
            <a:br/>
            <a:r>
              <a:t>(Batch Server)</a:t>
            </a:r>
          </a:p>
        </p:txBody>
      </p:sp>
      <p:sp>
        <p:nvSpPr>
          <p:cNvPr id="72" name="Oval 71"/>
          <p:cNvSpPr/>
          <p:nvPr/>
        </p:nvSpPr>
        <p:spPr>
          <a:xfrm>
            <a:off x="11023092" y="2130552"/>
            <a:ext cx="452628" cy="4526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11249406" y="2229307"/>
            <a:ext cx="0" cy="139903"/>
          </a:xfrm>
          <a:prstGeom prst="line">
            <a:avLst/>
          </a:prstGeom>
          <a:ln w="25400">
            <a:solidFill>
              <a:srgbClr val="127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1249406" y="2369210"/>
            <a:ext cx="102870" cy="57607"/>
          </a:xfrm>
          <a:prstGeom prst="line">
            <a:avLst/>
          </a:prstGeom>
          <a:ln w="25400">
            <a:solidFill>
              <a:srgbClr val="127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0716767" y="2624328"/>
            <a:ext cx="1069848" cy="1344168"/>
          </a:xfrm>
          <a:prstGeom prst="rect">
            <a:avLst/>
          </a:prstGeom>
          <a:noFill/>
        </p:spPr>
        <p:txBody>
          <a:bodyPr wrap="square" lIns="32004" rIns="32004" tIns="22860" bIns="18288" anchor="t">
            <a:spAutoFit/>
          </a:bodyPr>
          <a:lstStyle/>
          <a:p>
            <a:pPr algn="ctr">
              <a:defRPr sz="850" b="0">
                <a:solidFill>
                  <a:srgbClr val="233448"/>
                </a:solidFill>
                <a:latin typeface="Aptos"/>
              </a:defRPr>
            </a:pPr>
            <a:r>
              <a:t>Runs hourly:</a:t>
            </a:r>
            <a:br/>
            <a:r>
              <a:t>aggregation,</a:t>
            </a:r>
            <a:br/>
            <a:r>
              <a:t>classification</a:t>
            </a:r>
            <a:br/>
            <a:r>
              <a:t>and cleanup.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815084" y="2761488"/>
            <a:ext cx="196596" cy="0"/>
          </a:xfrm>
          <a:prstGeom prst="line">
            <a:avLst/>
          </a:prstGeom>
          <a:ln w="21590">
            <a:solidFill>
              <a:srgbClr val="23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525012" y="2761488"/>
            <a:ext cx="196596" cy="0"/>
          </a:xfrm>
          <a:prstGeom prst="line">
            <a:avLst/>
          </a:prstGeom>
          <a:ln w="21590">
            <a:solidFill>
              <a:srgbClr val="23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381244" y="2761488"/>
            <a:ext cx="196596" cy="0"/>
          </a:xfrm>
          <a:prstGeom prst="line">
            <a:avLst/>
          </a:prstGeom>
          <a:ln w="21590">
            <a:solidFill>
              <a:srgbClr val="23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027164" y="2761488"/>
            <a:ext cx="196596" cy="0"/>
          </a:xfrm>
          <a:prstGeom prst="line">
            <a:avLst/>
          </a:prstGeom>
          <a:ln w="21590">
            <a:solidFill>
              <a:srgbClr val="23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8828532" y="2761488"/>
            <a:ext cx="196596" cy="0"/>
          </a:xfrm>
          <a:prstGeom prst="line">
            <a:avLst/>
          </a:prstGeom>
          <a:ln w="21590">
            <a:solidFill>
              <a:srgbClr val="23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0410444" y="2761488"/>
            <a:ext cx="196596" cy="0"/>
          </a:xfrm>
          <a:prstGeom prst="line">
            <a:avLst/>
          </a:prstGeom>
          <a:ln w="21590">
            <a:solidFill>
              <a:srgbClr val="23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417320" y="4160520"/>
            <a:ext cx="2743200" cy="0"/>
          </a:xfrm>
          <a:prstGeom prst="line">
            <a:avLst/>
          </a:prstGeom>
          <a:ln w="17780">
            <a:solidFill>
              <a:srgbClr val="388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2761488" y="4050791"/>
            <a:ext cx="1399032" cy="0"/>
          </a:xfrm>
          <a:prstGeom prst="line">
            <a:avLst/>
          </a:prstGeom>
          <a:ln w="17780">
            <a:solidFill>
              <a:srgbClr val="388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645920" y="4187952"/>
            <a:ext cx="2514600" cy="256032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ctr">
              <a:defRPr sz="869" b="1">
                <a:solidFill>
                  <a:srgbClr val="388244"/>
                </a:solidFill>
                <a:latin typeface="Aptos"/>
              </a:defRPr>
            </a:pPr>
            <a:r>
              <a:t>Telemetry API calls from both sources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" y="4709160"/>
            <a:ext cx="6858000" cy="1417320"/>
          </a:xfrm>
          <a:prstGeom prst="roundRect">
            <a:avLst/>
          </a:prstGeom>
          <a:solidFill>
            <a:srgbClr val="F8FBFF"/>
          </a:solidFill>
          <a:ln w="11430">
            <a:solidFill>
              <a:srgbClr val="BE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1792" y="4791456"/>
            <a:ext cx="6400800" cy="27432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1200" b="1">
                <a:solidFill>
                  <a:srgbClr val="143D69"/>
                </a:solidFill>
                <a:latin typeface="Aptos"/>
              </a:defRPr>
            </a:pPr>
            <a:r>
              <a:t>Key responsibilities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1792" y="5084064"/>
            <a:ext cx="6400800" cy="868680"/>
          </a:xfrm>
          <a:prstGeom prst="rect">
            <a:avLst/>
          </a:prstGeom>
          <a:noFill/>
        </p:spPr>
        <p:txBody>
          <a:bodyPr wrap="square" lIns="64008" rIns="64008" tIns="22860" bIns="18288" anchor="t">
            <a:spAutoFit/>
          </a:bodyPr>
          <a:lstStyle/>
          <a:p>
            <a:pPr algn="l">
              <a:defRPr sz="950" b="0">
                <a:solidFill>
                  <a:srgbClr val="233448"/>
                </a:solidFill>
                <a:latin typeface="Aptos"/>
              </a:defRPr>
            </a:pPr>
            <a:r>
              <a:t>• PerfDataQueueService API = producer; sends telemetry into MSMQ.</a:t>
            </a:r>
            <a:br/>
            <a:r>
              <a:t>• PerfDataQueueReader = consumer; writes messages into PerfData DB on a separate DB Server.</a:t>
            </a:r>
            <a:br/>
            <a:r>
              <a:t>• PerfDataBatchProcess = hourly database processing on the Batch Server.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479792" y="4709160"/>
            <a:ext cx="4251960" cy="1417320"/>
          </a:xfrm>
          <a:prstGeom prst="roundRect">
            <a:avLst/>
          </a:prstGeom>
          <a:solidFill>
            <a:srgbClr val="E4F8F7"/>
          </a:solidFill>
          <a:ln w="12700">
            <a:solidFill>
              <a:srgbClr val="12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699248" y="5010912"/>
            <a:ext cx="377190" cy="37719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2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7887843" y="5093208"/>
            <a:ext cx="0" cy="116586"/>
          </a:xfrm>
          <a:prstGeom prst="line">
            <a:avLst/>
          </a:prstGeom>
          <a:ln w="25400">
            <a:solidFill>
              <a:srgbClr val="127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7887843" y="5209794"/>
            <a:ext cx="85725" cy="48006"/>
          </a:xfrm>
          <a:prstGeom prst="line">
            <a:avLst/>
          </a:prstGeom>
          <a:ln w="25400">
            <a:solidFill>
              <a:srgbClr val="127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183879" y="4800600"/>
            <a:ext cx="3310128" cy="292608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1200" b="1">
                <a:solidFill>
                  <a:srgbClr val="127E84"/>
                </a:solidFill>
                <a:latin typeface="Aptos"/>
              </a:defRPr>
            </a:pPr>
            <a:r>
              <a:t>Optional: Dynatrace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183879" y="5120640"/>
            <a:ext cx="3310128" cy="777240"/>
          </a:xfrm>
          <a:prstGeom prst="rect">
            <a:avLst/>
          </a:prstGeom>
          <a:noFill/>
        </p:spPr>
        <p:txBody>
          <a:bodyPr wrap="square" lIns="64008" rIns="64008" tIns="22860" bIns="18288" anchor="t">
            <a:spAutoFit/>
          </a:bodyPr>
          <a:lstStyle/>
          <a:p>
            <a:pPr algn="l">
              <a:defRPr sz="919" b="0">
                <a:solidFill>
                  <a:srgbClr val="233448"/>
                </a:solidFill>
                <a:latin typeface="Aptos"/>
              </a:defRPr>
            </a:pPr>
            <a:r>
              <a:t>After processing, aggregated application and transaction-class metrics can be sent to Dynatrace (for example, a 10-minute/hourly POC).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46304"/>
            <a:ext cx="10789920" cy="41148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2300" b="1">
                <a:solidFill>
                  <a:srgbClr val="143D69"/>
                </a:solidFill>
                <a:latin typeface="Aptos"/>
              </a:defRPr>
            </a:pPr>
            <a:r>
              <a:t>OpenTelemetry Integration |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155680" cy="292608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1050" b="0">
                <a:solidFill>
                  <a:srgbClr val="5E6F82"/>
                </a:solidFill>
                <a:latin typeface="Aptos"/>
              </a:defRPr>
            </a:pPr>
            <a:r>
              <a:t>Deployment view showing separate Web, Application, Database and Batch servers, plus optional external monitoring.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32004"/>
          </a:xfrm>
          <a:prstGeom prst="rect">
            <a:avLst/>
          </a:prstGeom>
          <a:solidFill>
            <a:srgbClr val="2373BE"/>
          </a:solidFill>
          <a:ln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32004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r">
              <a:defRPr sz="1200" b="1">
                <a:solidFill>
                  <a:srgbClr val="2373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325880"/>
            <a:ext cx="2148840" cy="4526280"/>
          </a:xfrm>
          <a:prstGeom prst="roundRect">
            <a:avLst/>
          </a:prstGeom>
          <a:solidFill>
            <a:srgbClr val="E7F3FF"/>
          </a:solidFill>
          <a:ln w="1524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99032"/>
            <a:ext cx="2020824" cy="32004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ctr">
              <a:defRPr sz="1050" b="1">
                <a:solidFill>
                  <a:srgbClr val="2373BE"/>
                </a:solidFill>
                <a:latin typeface="Aptos"/>
              </a:defRPr>
            </a:pPr>
            <a:r>
              <a:t>WEB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325880"/>
            <a:ext cx="5715000" cy="4526280"/>
          </a:xfrm>
          <a:prstGeom prst="roundRect">
            <a:avLst/>
          </a:prstGeom>
          <a:solidFill>
            <a:srgbClr val="F4EEFF"/>
          </a:solidFill>
          <a:ln w="15240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15768" y="1399032"/>
            <a:ext cx="5586984" cy="32004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ctr">
              <a:defRPr sz="1050" b="1">
                <a:solidFill>
                  <a:srgbClr val="6F4BB5"/>
                </a:solidFill>
                <a:latin typeface="Aptos"/>
              </a:defRPr>
            </a:pPr>
            <a:r>
              <a:t>APPLICATION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1325880"/>
            <a:ext cx="1234440" cy="4526280"/>
          </a:xfrm>
          <a:prstGeom prst="roundRect">
            <a:avLst/>
          </a:prstGeom>
          <a:solidFill>
            <a:srgbClr val="EBF8E9"/>
          </a:solidFill>
          <a:ln w="15240">
            <a:solidFill>
              <a:srgbClr val="388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13648" y="1399032"/>
            <a:ext cx="1106424" cy="32004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ctr">
              <a:defRPr sz="1050" b="1">
                <a:solidFill>
                  <a:srgbClr val="388244"/>
                </a:solidFill>
                <a:latin typeface="Aptos"/>
              </a:defRPr>
            </a:pPr>
            <a:r>
              <a:t>DB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66960" y="1325880"/>
            <a:ext cx="1810512" cy="4526280"/>
          </a:xfrm>
          <a:prstGeom prst="roundRect">
            <a:avLst/>
          </a:prstGeom>
          <a:solidFill>
            <a:srgbClr val="FFF2E2"/>
          </a:solidFill>
          <a:ln w="15240">
            <a:solidFill>
              <a:srgbClr val="CC6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30968" y="1399032"/>
            <a:ext cx="1682495" cy="32004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ctr">
              <a:defRPr sz="1050" b="1">
                <a:solidFill>
                  <a:srgbClr val="CC6312"/>
                </a:solidFill>
                <a:latin typeface="Aptos"/>
              </a:defRPr>
            </a:pPr>
            <a:r>
              <a:t>BATCH + MONITORING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1828800"/>
            <a:ext cx="1737360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4068" y="1842516"/>
            <a:ext cx="1709928" cy="420624"/>
          </a:xfrm>
          <a:prstGeom prst="roundRect">
            <a:avLst/>
          </a:prstGeom>
          <a:solidFill>
            <a:srgbClr val="2373BE"/>
          </a:solidFill>
          <a:ln w="635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" y="2084832"/>
            <a:ext cx="1709928" cy="173736"/>
          </a:xfrm>
          <a:prstGeom prst="rect">
            <a:avLst/>
          </a:prstGeom>
          <a:solidFill>
            <a:srgbClr val="2373BE"/>
          </a:solidFill>
          <a:ln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1792" y="189738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73BE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1860804"/>
            <a:ext cx="1252728" cy="356616"/>
          </a:xfrm>
          <a:prstGeom prst="rect">
            <a:avLst/>
          </a:prstGeom>
          <a:noFill/>
        </p:spPr>
        <p:txBody>
          <a:bodyPr wrap="square" lIns="13716" rIns="13716" tIns="22860" bIns="18288" anchor="ctr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Web Application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70431" y="2359152"/>
            <a:ext cx="450799" cy="3108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70431" y="2359152"/>
            <a:ext cx="450799" cy="69951"/>
          </a:xfrm>
          <a:prstGeom prst="rect">
            <a:avLst/>
          </a:prstGeom>
          <a:solidFill>
            <a:srgbClr val="2373BE"/>
          </a:solidFill>
          <a:ln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17066" y="2378583"/>
            <a:ext cx="19431" cy="19431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1473" y="2378583"/>
            <a:ext cx="19431" cy="19431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25879" y="2378583"/>
            <a:ext cx="19431" cy="19431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2852928"/>
            <a:ext cx="1554480" cy="274320"/>
          </a:xfrm>
          <a:prstGeom prst="rect">
            <a:avLst/>
          </a:prstGeom>
          <a:noFill/>
        </p:spPr>
        <p:txBody>
          <a:bodyPr wrap="square" lIns="32004" rIns="32004" tIns="22860" bIns="18288" anchor="t">
            <a:spAutoFit/>
          </a:bodyPr>
          <a:lstStyle/>
          <a:p>
            <a:pPr algn="ctr">
              <a:defRPr sz="880" b="0">
                <a:solidFill>
                  <a:srgbClr val="233448"/>
                </a:solidFill>
                <a:latin typeface="Aptos"/>
              </a:defRPr>
            </a:pPr>
            <a:r>
              <a:t>Captures telemetry</a:t>
            </a:r>
            <a:br/>
            <a:r>
              <a:t>with OpenTelemetry</a:t>
            </a:r>
            <a:br/>
            <a:r>
              <a:t>(traces, metrics, logs)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3456432"/>
            <a:ext cx="1737360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4068" y="3470148"/>
            <a:ext cx="1709928" cy="420624"/>
          </a:xfrm>
          <a:prstGeom prst="roundRect">
            <a:avLst/>
          </a:prstGeom>
          <a:solidFill>
            <a:srgbClr val="2373BE"/>
          </a:solidFill>
          <a:ln w="635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4068" y="3712463"/>
            <a:ext cx="1709928" cy="173736"/>
          </a:xfrm>
          <a:prstGeom prst="rect">
            <a:avLst/>
          </a:prstGeom>
          <a:solidFill>
            <a:srgbClr val="2373BE"/>
          </a:solidFill>
          <a:ln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1792" y="3525012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73BE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3488436"/>
            <a:ext cx="1252728" cy="356616"/>
          </a:xfrm>
          <a:prstGeom prst="rect">
            <a:avLst/>
          </a:prstGeom>
          <a:noFill/>
        </p:spPr>
        <p:txBody>
          <a:bodyPr wrap="square" lIns="13716" rIns="13716" tIns="22860" bIns="18288" anchor="ctr">
            <a:spAutoFit/>
          </a:bodyPr>
          <a:lstStyle/>
          <a:p>
            <a:pPr algn="ctr">
              <a:defRPr sz="1030" b="1">
                <a:solidFill>
                  <a:srgbClr val="FFFFFF"/>
                </a:solidFill>
                <a:latin typeface="Aptos"/>
              </a:defRPr>
            </a:pPr>
            <a:r>
              <a:t>Outbound Calls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1" y="3986783"/>
            <a:ext cx="45720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1261872" y="4142231"/>
            <a:ext cx="91439" cy="73152"/>
          </a:xfrm>
          <a:prstGeom prst="line">
            <a:avLst/>
          </a:prstGeom>
          <a:ln w="12700">
            <a:solidFill>
              <a:srgbClr val="23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353311" y="4142231"/>
            <a:ext cx="91440" cy="36576"/>
          </a:xfrm>
          <a:prstGeom prst="line">
            <a:avLst/>
          </a:prstGeom>
          <a:ln w="12700">
            <a:solidFill>
              <a:srgbClr val="23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353311" y="4306823"/>
            <a:ext cx="91440" cy="36576"/>
          </a:xfrm>
          <a:prstGeom prst="rect">
            <a:avLst/>
          </a:prstGeom>
          <a:solidFill>
            <a:srgbClr val="2373BE"/>
          </a:solidFill>
          <a:ln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480560"/>
            <a:ext cx="1554480" cy="274320"/>
          </a:xfrm>
          <a:prstGeom prst="rect">
            <a:avLst/>
          </a:prstGeom>
          <a:noFill/>
        </p:spPr>
        <p:txBody>
          <a:bodyPr wrap="square" lIns="32004" rIns="32004" tIns="22860" bIns="18288" anchor="t">
            <a:spAutoFit/>
          </a:bodyPr>
          <a:lstStyle/>
          <a:p>
            <a:pPr algn="ctr">
              <a:defRPr sz="880" b="0">
                <a:solidFill>
                  <a:srgbClr val="233448"/>
                </a:solidFill>
                <a:latin typeface="Aptos"/>
              </a:defRPr>
            </a:pPr>
            <a:r>
              <a:t>Calls API Services</a:t>
            </a:r>
            <a:br/>
            <a:r>
              <a:t>and PerfDataQueueService</a:t>
            </a:r>
            <a:br/>
            <a:r>
              <a:t>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80360" y="1828800"/>
            <a:ext cx="144475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894076" y="1842516"/>
            <a:ext cx="1417320" cy="420624"/>
          </a:xfrm>
          <a:prstGeom prst="roundRect">
            <a:avLst/>
          </a:prstGeom>
          <a:solidFill>
            <a:srgbClr val="6F4BB5"/>
          </a:solidFill>
          <a:ln w="6350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94076" y="2084832"/>
            <a:ext cx="1417320" cy="173736"/>
          </a:xfrm>
          <a:prstGeom prst="rect">
            <a:avLst/>
          </a:prstGeom>
          <a:solidFill>
            <a:srgbClr val="6F4BB5"/>
          </a:solidFill>
          <a:ln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71800" y="189738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F4BB5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00984" y="1860804"/>
            <a:ext cx="960120" cy="356616"/>
          </a:xfrm>
          <a:prstGeom prst="rect">
            <a:avLst/>
          </a:prstGeom>
          <a:noFill/>
        </p:spPr>
        <p:txBody>
          <a:bodyPr wrap="square" lIns="13716" rIns="13716" tIns="22860" bIns="18288" anchor="ctr">
            <a:spAutoFit/>
          </a:bodyPr>
          <a:lstStyle/>
          <a:p>
            <a:pPr algn="ctr">
              <a:defRPr sz="1010" b="1">
                <a:solidFill>
                  <a:srgbClr val="FFFFFF"/>
                </a:solidFill>
                <a:latin typeface="Aptos"/>
              </a:defRPr>
            </a:pPr>
            <a:r>
              <a:t>API Services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92424" y="2359152"/>
            <a:ext cx="395020" cy="86410"/>
          </a:xfrm>
          <a:prstGeom prst="roundRect">
            <a:avLst/>
          </a:prstGeom>
          <a:solidFill>
            <a:srgbClr val="6F4BB5"/>
          </a:solidFill>
          <a:ln w="7620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433572" y="2387955"/>
            <a:ext cx="28803" cy="2880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15868" y="2387955"/>
            <a:ext cx="181051" cy="2057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392424" y="2474366"/>
            <a:ext cx="395020" cy="86410"/>
          </a:xfrm>
          <a:prstGeom prst="roundRect">
            <a:avLst/>
          </a:prstGeom>
          <a:solidFill>
            <a:srgbClr val="6F4BB5"/>
          </a:solidFill>
          <a:ln w="7620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433572" y="2503170"/>
            <a:ext cx="28803" cy="2880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515868" y="2503170"/>
            <a:ext cx="181051" cy="2057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392424" y="2589580"/>
            <a:ext cx="395020" cy="86410"/>
          </a:xfrm>
          <a:prstGeom prst="roundRect">
            <a:avLst/>
          </a:prstGeom>
          <a:solidFill>
            <a:srgbClr val="6F4BB5"/>
          </a:solidFill>
          <a:ln w="7620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433572" y="2618384"/>
            <a:ext cx="28803" cy="2880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515868" y="2618384"/>
            <a:ext cx="181051" cy="2057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71800" y="2852928"/>
            <a:ext cx="1261872" cy="338328"/>
          </a:xfrm>
          <a:prstGeom prst="rect">
            <a:avLst/>
          </a:prstGeom>
          <a:noFill/>
        </p:spPr>
        <p:txBody>
          <a:bodyPr wrap="square" lIns="32004" rIns="32004" tIns="22860" bIns="18288" anchor="t">
            <a:spAutoFit/>
          </a:bodyPr>
          <a:lstStyle/>
          <a:p>
            <a:pPr algn="ctr">
              <a:defRPr sz="830" b="0">
                <a:solidFill>
                  <a:srgbClr val="233448"/>
                </a:solidFill>
                <a:latin typeface="Aptos"/>
              </a:defRPr>
            </a:pPr>
            <a:r>
              <a:t>Web API / WCF /</a:t>
            </a:r>
            <a:br/>
            <a:r>
              <a:t>ASMX / Service Fabric</a:t>
            </a:r>
            <a:br/>
            <a:r>
              <a:t>Business + DB calls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53712" y="1828800"/>
            <a:ext cx="1673352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88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67428" y="1842516"/>
            <a:ext cx="1645920" cy="420624"/>
          </a:xfrm>
          <a:prstGeom prst="roundRect">
            <a:avLst/>
          </a:prstGeom>
          <a:solidFill>
            <a:srgbClr val="388244"/>
          </a:solidFill>
          <a:ln w="6350">
            <a:solidFill>
              <a:srgbClr val="388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67428" y="2084832"/>
            <a:ext cx="1645920" cy="173736"/>
          </a:xfrm>
          <a:prstGeom prst="rect">
            <a:avLst/>
          </a:prstGeom>
          <a:solidFill>
            <a:srgbClr val="388244"/>
          </a:solidFill>
          <a:ln>
            <a:solidFill>
              <a:srgbClr val="388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645152" y="189738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8244"/>
                </a:solidFill>
                <a:latin typeface="Aptos"/>
              </a:defRPr>
            </a:pPr>
            <a:r>
              <a:t>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74336" y="1860804"/>
            <a:ext cx="1188720" cy="356616"/>
          </a:xfrm>
          <a:prstGeom prst="rect">
            <a:avLst/>
          </a:prstGeom>
          <a:noFill/>
        </p:spPr>
        <p:txBody>
          <a:bodyPr wrap="square" lIns="13716" rIns="13716" tIns="22860" bIns="18288" anchor="ctr">
            <a:spAutoFit/>
          </a:bodyPr>
          <a:lstStyle/>
          <a:p>
            <a:pPr algn="ctr">
              <a:defRPr sz="940" b="1">
                <a:solidFill>
                  <a:srgbClr val="FFFFFF"/>
                </a:solidFill>
                <a:latin typeface="Aptos"/>
              </a:defRPr>
            </a:pPr>
            <a:r>
              <a:t>PerfDataQueueService API</a:t>
            </a:r>
          </a:p>
        </p:txBody>
      </p:sp>
      <p:sp>
        <p:nvSpPr>
          <p:cNvPr id="55" name="Gear 6 54"/>
          <p:cNvSpPr/>
          <p:nvPr/>
        </p:nvSpPr>
        <p:spPr>
          <a:xfrm>
            <a:off x="5161788" y="2359152"/>
            <a:ext cx="452628" cy="452628"/>
          </a:xfrm>
          <a:prstGeom prst="gear6">
            <a:avLst/>
          </a:prstGeom>
          <a:solidFill>
            <a:srgbClr val="388244"/>
          </a:solidFill>
          <a:ln>
            <a:solidFill>
              <a:srgbClr val="388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318150" y="2515514"/>
            <a:ext cx="139903" cy="13990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45152" y="2852928"/>
            <a:ext cx="1490472" cy="338328"/>
          </a:xfrm>
          <a:prstGeom prst="rect">
            <a:avLst/>
          </a:prstGeom>
          <a:noFill/>
        </p:spPr>
        <p:txBody>
          <a:bodyPr wrap="square" lIns="32004" rIns="32004" tIns="22860" bIns="18288" anchor="t">
            <a:spAutoFit/>
          </a:bodyPr>
          <a:lstStyle/>
          <a:p>
            <a:pPr algn="ctr">
              <a:defRPr sz="810" b="0">
                <a:solidFill>
                  <a:srgbClr val="233448"/>
                </a:solidFill>
                <a:latin typeface="Aptos"/>
              </a:defRPr>
            </a:pPr>
            <a:r>
              <a:t>Receives telemetry from</a:t>
            </a:r>
            <a:br/>
            <a:r>
              <a:t>web app + API services;</a:t>
            </a:r>
            <a:br/>
            <a:r>
              <a:t>produces MSMQ messages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91656" y="1828800"/>
            <a:ext cx="1572768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405372" y="1842516"/>
            <a:ext cx="1545336" cy="420624"/>
          </a:xfrm>
          <a:prstGeom prst="roundRect">
            <a:avLst/>
          </a:prstGeom>
          <a:solidFill>
            <a:srgbClr val="2373BE"/>
          </a:solidFill>
          <a:ln w="635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5372" y="2084832"/>
            <a:ext cx="1545336" cy="173736"/>
          </a:xfrm>
          <a:prstGeom prst="rect">
            <a:avLst/>
          </a:prstGeom>
          <a:solidFill>
            <a:srgbClr val="2373BE"/>
          </a:solidFill>
          <a:ln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483096" y="189738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73BE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12280" y="1860804"/>
            <a:ext cx="1088136" cy="356616"/>
          </a:xfrm>
          <a:prstGeom prst="rect">
            <a:avLst/>
          </a:prstGeom>
          <a:noFill/>
        </p:spPr>
        <p:txBody>
          <a:bodyPr wrap="square" lIns="13716" rIns="13716" tIns="22860" bIns="18288" anchor="ctr">
            <a:spAutoFit/>
          </a:bodyPr>
          <a:lstStyle/>
          <a:p>
            <a:pPr algn="ctr">
              <a:defRPr sz="1040" b="1">
                <a:solidFill>
                  <a:srgbClr val="FFFFFF"/>
                </a:solidFill>
                <a:latin typeface="Aptos"/>
              </a:defRPr>
            </a:pPr>
            <a:r>
              <a:t>MSMQ Queue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949440" y="2424988"/>
            <a:ext cx="395020" cy="345643"/>
          </a:xfrm>
          <a:prstGeom prst="roundRect">
            <a:avLst/>
          </a:prstGeom>
          <a:solidFill>
            <a:srgbClr val="2373BE"/>
          </a:solidFill>
          <a:ln w="889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007047" y="2490825"/>
            <a:ext cx="57607" cy="19751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105802" y="2490825"/>
            <a:ext cx="57607" cy="19751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204557" y="2490825"/>
            <a:ext cx="57607" cy="197510"/>
          </a:xfrm>
          <a:prstGeom prst="roundRect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83096" y="2852928"/>
            <a:ext cx="1389888" cy="338328"/>
          </a:xfrm>
          <a:prstGeom prst="rect">
            <a:avLst/>
          </a:prstGeom>
          <a:noFill/>
        </p:spPr>
        <p:txBody>
          <a:bodyPr wrap="square" lIns="32004" rIns="32004" tIns="22860" bIns="18288" anchor="t">
            <a:spAutoFit/>
          </a:bodyPr>
          <a:lstStyle/>
          <a:p>
            <a:pPr algn="ctr">
              <a:defRPr sz="880" b="0">
                <a:solidFill>
                  <a:srgbClr val="233448"/>
                </a:solidFill>
                <a:latin typeface="Aptos"/>
              </a:defRPr>
            </a:pPr>
            <a:r>
              <a:t>Asynchronous message</a:t>
            </a:r>
            <a:br/>
            <a:r>
              <a:t>buffer for telemetry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754880" y="3886200"/>
            <a:ext cx="18288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6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4768596" y="3899915"/>
            <a:ext cx="1801368" cy="420624"/>
          </a:xfrm>
          <a:prstGeom prst="roundRect">
            <a:avLst/>
          </a:prstGeom>
          <a:solidFill>
            <a:srgbClr val="CC6312"/>
          </a:solidFill>
          <a:ln w="6350">
            <a:solidFill>
              <a:srgbClr val="CC6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68596" y="4142232"/>
            <a:ext cx="1801368" cy="173736"/>
          </a:xfrm>
          <a:prstGeom prst="rect">
            <a:avLst/>
          </a:prstGeom>
          <a:solidFill>
            <a:srgbClr val="CC6312"/>
          </a:solidFill>
          <a:ln>
            <a:solidFill>
              <a:srgbClr val="CC6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846320" y="395478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C6312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75504" y="3918204"/>
            <a:ext cx="1344168" cy="356616"/>
          </a:xfrm>
          <a:prstGeom prst="rect">
            <a:avLst/>
          </a:prstGeom>
          <a:noFill/>
        </p:spPr>
        <p:txBody>
          <a:bodyPr wrap="square" lIns="13716" rIns="13716" tIns="22860" bIns="18288" anchor="ctr">
            <a:spAutoFit/>
          </a:bodyPr>
          <a:lstStyle/>
          <a:p>
            <a:pPr algn="ctr">
              <a:defRPr sz="990" b="1">
                <a:solidFill>
                  <a:srgbClr val="FFFFFF"/>
                </a:solidFill>
                <a:latin typeface="Aptos"/>
              </a:defRPr>
            </a:pPr>
            <a:r>
              <a:t>PerfDataQueueReader</a:t>
            </a:r>
          </a:p>
        </p:txBody>
      </p:sp>
      <p:sp>
        <p:nvSpPr>
          <p:cNvPr id="73" name="Gear 6 72"/>
          <p:cNvSpPr/>
          <p:nvPr/>
        </p:nvSpPr>
        <p:spPr>
          <a:xfrm>
            <a:off x="5440680" y="4416552"/>
            <a:ext cx="452628" cy="452628"/>
          </a:xfrm>
          <a:prstGeom prst="gear6">
            <a:avLst/>
          </a:prstGeom>
          <a:solidFill>
            <a:srgbClr val="CC6312"/>
          </a:solidFill>
          <a:ln>
            <a:solidFill>
              <a:srgbClr val="CC6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597042" y="4572914"/>
            <a:ext cx="139903" cy="139903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46320" y="4910328"/>
            <a:ext cx="1645920" cy="338328"/>
          </a:xfrm>
          <a:prstGeom prst="rect">
            <a:avLst/>
          </a:prstGeom>
          <a:noFill/>
        </p:spPr>
        <p:txBody>
          <a:bodyPr wrap="square" lIns="32004" rIns="32004" tIns="22860" bIns="18288" anchor="t">
            <a:spAutoFit/>
          </a:bodyPr>
          <a:lstStyle/>
          <a:p>
            <a:pPr algn="ctr">
              <a:defRPr sz="840" b="0">
                <a:solidFill>
                  <a:srgbClr val="233448"/>
                </a:solidFill>
                <a:latin typeface="Aptos"/>
              </a:defRPr>
            </a:pPr>
            <a:r>
              <a:t>Continuously consumes</a:t>
            </a:r>
            <a:br/>
            <a:r>
              <a:t>MSMQ messages and</a:t>
            </a:r>
            <a:br/>
            <a:r>
              <a:t>inserts into PerfData DB</a:t>
            </a:r>
          </a:p>
        </p:txBody>
      </p:sp>
      <p:sp>
        <p:nvSpPr>
          <p:cNvPr id="76" name="Can 75"/>
          <p:cNvSpPr/>
          <p:nvPr/>
        </p:nvSpPr>
        <p:spPr>
          <a:xfrm>
            <a:off x="8915400" y="2240280"/>
            <a:ext cx="499262" cy="595274"/>
          </a:xfrm>
          <a:prstGeom prst="can">
            <a:avLst/>
          </a:prstGeom>
          <a:solidFill>
            <a:srgbClr val="2373BE"/>
          </a:solidFill>
          <a:ln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8953804" y="2413101"/>
            <a:ext cx="422453" cy="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8953804" y="2585923"/>
            <a:ext cx="422453" cy="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668512" y="3063240"/>
            <a:ext cx="1005840" cy="54864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ctr">
              <a:defRPr sz="1100" b="1">
                <a:solidFill>
                  <a:srgbClr val="143D69"/>
                </a:solidFill>
                <a:latin typeface="Aptos"/>
              </a:defRPr>
            </a:pPr>
            <a:r>
              <a:t>PerfData DB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68512" y="3611880"/>
            <a:ext cx="1005840" cy="73152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ctr">
              <a:defRPr sz="890" b="0">
                <a:solidFill>
                  <a:srgbClr val="233448"/>
                </a:solidFill>
                <a:latin typeface="Aptos"/>
              </a:defRPr>
            </a:pPr>
            <a:r>
              <a:t>Raw + processed</a:t>
            </a:r>
            <a:br/>
            <a:r>
              <a:t>telemetry data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68512" y="4572000"/>
            <a:ext cx="1005840" cy="50292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ctr">
              <a:defRPr sz="919" b="1">
                <a:solidFill>
                  <a:srgbClr val="388244"/>
                </a:solidFill>
                <a:latin typeface="Aptos"/>
              </a:defRPr>
            </a:pPr>
            <a:r>
              <a:t>Dedicated</a:t>
            </a:r>
            <a:br/>
            <a:r>
              <a:t>DB Server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177272" y="1828800"/>
            <a:ext cx="1389888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C6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10190988" y="1842516"/>
            <a:ext cx="1362456" cy="420624"/>
          </a:xfrm>
          <a:prstGeom prst="roundRect">
            <a:avLst/>
          </a:prstGeom>
          <a:solidFill>
            <a:srgbClr val="CC6312"/>
          </a:solidFill>
          <a:ln w="6350">
            <a:solidFill>
              <a:srgbClr val="CC6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190988" y="2084832"/>
            <a:ext cx="1362456" cy="173736"/>
          </a:xfrm>
          <a:prstGeom prst="rect">
            <a:avLst/>
          </a:prstGeom>
          <a:solidFill>
            <a:srgbClr val="CC6312"/>
          </a:solidFill>
          <a:ln>
            <a:solidFill>
              <a:srgbClr val="CC6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268712" y="189738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C6312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597896" y="1860804"/>
            <a:ext cx="905256" cy="356616"/>
          </a:xfrm>
          <a:prstGeom prst="rect">
            <a:avLst/>
          </a:prstGeom>
          <a:noFill/>
        </p:spPr>
        <p:txBody>
          <a:bodyPr wrap="square" lIns="13716" rIns="13716" tIns="22860" bIns="18288" anchor="ctr">
            <a:spAutoFit/>
          </a:bodyPr>
          <a:lstStyle/>
          <a:p>
            <a:pPr algn="ctr">
              <a:defRPr sz="980" b="1">
                <a:solidFill>
                  <a:srgbClr val="FFFFFF"/>
                </a:solidFill>
                <a:latin typeface="Aptos"/>
              </a:defRPr>
            </a:pPr>
            <a:r>
              <a:t>Batch Server</a:t>
            </a:r>
          </a:p>
        </p:txBody>
      </p:sp>
      <p:sp>
        <p:nvSpPr>
          <p:cNvPr id="87" name="Oval 86"/>
          <p:cNvSpPr/>
          <p:nvPr/>
        </p:nvSpPr>
        <p:spPr>
          <a:xfrm>
            <a:off x="10643616" y="2359152"/>
            <a:ext cx="452628" cy="4526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C6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10869930" y="2457907"/>
            <a:ext cx="0" cy="139903"/>
          </a:xfrm>
          <a:prstGeom prst="line">
            <a:avLst/>
          </a:prstGeom>
          <a:ln w="25400">
            <a:solidFill>
              <a:srgbClr val="CC6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869930" y="2597810"/>
            <a:ext cx="102870" cy="57607"/>
          </a:xfrm>
          <a:prstGeom prst="line">
            <a:avLst/>
          </a:prstGeom>
          <a:ln w="25400">
            <a:solidFill>
              <a:srgbClr val="CC6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10268712" y="2852928"/>
            <a:ext cx="1207008" cy="475488"/>
          </a:xfrm>
          <a:prstGeom prst="rect">
            <a:avLst/>
          </a:prstGeom>
          <a:noFill/>
        </p:spPr>
        <p:txBody>
          <a:bodyPr wrap="square" lIns="32004" rIns="32004" tIns="22860" bIns="18288" anchor="t">
            <a:spAutoFit/>
          </a:bodyPr>
          <a:lstStyle/>
          <a:p>
            <a:pPr algn="ctr">
              <a:defRPr sz="819" b="0">
                <a:solidFill>
                  <a:srgbClr val="233448"/>
                </a:solidFill>
                <a:latin typeface="Aptos"/>
              </a:defRPr>
            </a:pPr>
            <a:r>
              <a:t>PerfDataBatchProcess</a:t>
            </a:r>
            <a:br/>
            <a:r>
              <a:t>runs hourly to aggregate,</a:t>
            </a:r>
            <a:br/>
            <a:r>
              <a:t>classify and clean up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177272" y="3794760"/>
            <a:ext cx="1389888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0190988" y="3808476"/>
            <a:ext cx="1362456" cy="420624"/>
          </a:xfrm>
          <a:prstGeom prst="roundRect">
            <a:avLst/>
          </a:prstGeom>
          <a:solidFill>
            <a:srgbClr val="127E84"/>
          </a:solidFill>
          <a:ln w="6350">
            <a:solidFill>
              <a:srgbClr val="12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190988" y="4050792"/>
            <a:ext cx="1362456" cy="173736"/>
          </a:xfrm>
          <a:prstGeom prst="rect">
            <a:avLst/>
          </a:prstGeom>
          <a:solidFill>
            <a:srgbClr val="127E84"/>
          </a:solidFill>
          <a:ln>
            <a:solidFill>
              <a:srgbClr val="12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268712" y="3863340"/>
            <a:ext cx="274320" cy="2743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27E84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97896" y="3826764"/>
            <a:ext cx="905256" cy="356616"/>
          </a:xfrm>
          <a:prstGeom prst="rect">
            <a:avLst/>
          </a:prstGeom>
          <a:noFill/>
        </p:spPr>
        <p:txBody>
          <a:bodyPr wrap="square" lIns="13716" rIns="13716" tIns="22860" bIns="18288" anchor="ctr">
            <a:spAutoFit/>
          </a:bodyPr>
          <a:lstStyle/>
          <a:p>
            <a:pPr algn="ctr">
              <a:defRPr sz="1019" b="1">
                <a:solidFill>
                  <a:srgbClr val="FFFFFF"/>
                </a:solidFill>
                <a:latin typeface="Aptos"/>
              </a:defRPr>
            </a:pPr>
            <a:r>
              <a:t>Dynatrace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643616" y="4325112"/>
            <a:ext cx="457200" cy="310896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2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 flipV="1">
            <a:off x="10735056" y="4480560"/>
            <a:ext cx="91440" cy="73152"/>
          </a:xfrm>
          <a:prstGeom prst="line">
            <a:avLst/>
          </a:prstGeom>
          <a:ln w="12700">
            <a:solidFill>
              <a:srgbClr val="127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0826496" y="4480560"/>
            <a:ext cx="91440" cy="36576"/>
          </a:xfrm>
          <a:prstGeom prst="line">
            <a:avLst/>
          </a:prstGeom>
          <a:ln w="12700">
            <a:solidFill>
              <a:srgbClr val="127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10826496" y="4645152"/>
            <a:ext cx="91440" cy="36576"/>
          </a:xfrm>
          <a:prstGeom prst="rect">
            <a:avLst/>
          </a:prstGeom>
          <a:solidFill>
            <a:srgbClr val="127E84"/>
          </a:solidFill>
          <a:ln>
            <a:solidFill>
              <a:srgbClr val="12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268712" y="4818888"/>
            <a:ext cx="1207008" cy="338328"/>
          </a:xfrm>
          <a:prstGeom prst="rect">
            <a:avLst/>
          </a:prstGeom>
          <a:noFill/>
        </p:spPr>
        <p:txBody>
          <a:bodyPr wrap="square" lIns="32004" rIns="32004" tIns="22860" bIns="18288" anchor="t">
            <a:spAutoFit/>
          </a:bodyPr>
          <a:lstStyle/>
          <a:p>
            <a:pPr algn="ctr">
              <a:defRPr sz="819" b="0">
                <a:solidFill>
                  <a:srgbClr val="233448"/>
                </a:solidFill>
                <a:latin typeface="Aptos"/>
              </a:defRPr>
            </a:pPr>
            <a:r>
              <a:t>Optional external</a:t>
            </a:r>
            <a:br/>
            <a:r>
              <a:t>monitoring for aggregated</a:t>
            </a:r>
            <a:br/>
            <a:r>
              <a:t>metrics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2286000" y="2514600"/>
            <a:ext cx="548640" cy="0"/>
          </a:xfrm>
          <a:prstGeom prst="line">
            <a:avLst/>
          </a:prstGeom>
          <a:ln w="19050">
            <a:solidFill>
              <a:srgbClr val="23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2313432" y="2167128"/>
            <a:ext cx="502920" cy="256032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ctr">
              <a:defRPr sz="800" b="1">
                <a:solidFill>
                  <a:srgbClr val="2373BE"/>
                </a:solidFill>
                <a:latin typeface="Aptos"/>
              </a:defRPr>
            </a:pPr>
            <a:r>
              <a:t>API</a:t>
            </a:r>
          </a:p>
        </p:txBody>
      </p:sp>
      <p:cxnSp>
        <p:nvCxnSpPr>
          <p:cNvPr id="103" name="Connector 102"/>
          <p:cNvCxnSpPr/>
          <p:nvPr/>
        </p:nvCxnSpPr>
        <p:spPr>
          <a:xfrm flipV="1">
            <a:off x="2286000" y="2926080"/>
            <a:ext cx="2221992" cy="1170432"/>
          </a:xfrm>
          <a:prstGeom prst="line">
            <a:avLst/>
          </a:prstGeom>
          <a:ln w="19050">
            <a:solidFill>
              <a:srgbClr val="388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2880360" y="3474720"/>
            <a:ext cx="1417320" cy="292608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ctr">
              <a:defRPr sz="810" b="1">
                <a:solidFill>
                  <a:srgbClr val="388244"/>
                </a:solidFill>
                <a:latin typeface="Aptos"/>
              </a:defRPr>
            </a:pPr>
            <a:r>
              <a:t>Telemetry API call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4325112" y="2532888"/>
            <a:ext cx="192024" cy="0"/>
          </a:xfrm>
          <a:prstGeom prst="line">
            <a:avLst/>
          </a:prstGeom>
          <a:ln w="17780">
            <a:solidFill>
              <a:srgbClr val="3882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6227064" y="2532888"/>
            <a:ext cx="128016" cy="0"/>
          </a:xfrm>
          <a:prstGeom prst="line">
            <a:avLst/>
          </a:prstGeom>
          <a:ln w="17780">
            <a:solidFill>
              <a:srgbClr val="23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H="1">
            <a:off x="6355080" y="3273552"/>
            <a:ext cx="822960" cy="566928"/>
          </a:xfrm>
          <a:prstGeom prst="line">
            <a:avLst/>
          </a:prstGeom>
          <a:ln w="19050">
            <a:solidFill>
              <a:srgbClr val="CC6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6400800" y="3337560"/>
            <a:ext cx="1097280" cy="256032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ctr">
              <a:defRPr sz="800" b="1">
                <a:solidFill>
                  <a:srgbClr val="CC6312"/>
                </a:solidFill>
                <a:latin typeface="Aptos"/>
              </a:defRPr>
            </a:pPr>
            <a:r>
              <a:t>Consume</a:t>
            </a:r>
          </a:p>
        </p:txBody>
      </p:sp>
      <p:cxnSp>
        <p:nvCxnSpPr>
          <p:cNvPr id="109" name="Connector 108"/>
          <p:cNvCxnSpPr/>
          <p:nvPr/>
        </p:nvCxnSpPr>
        <p:spPr>
          <a:xfrm flipV="1">
            <a:off x="6601968" y="2971800"/>
            <a:ext cx="2011680" cy="1554480"/>
          </a:xfrm>
          <a:prstGeom prst="line">
            <a:avLst/>
          </a:prstGeom>
          <a:ln w="19050">
            <a:solidFill>
              <a:srgbClr val="237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315200" y="3767328"/>
            <a:ext cx="1234440" cy="256032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ctr">
              <a:defRPr sz="800" b="1">
                <a:solidFill>
                  <a:srgbClr val="2373BE"/>
                </a:solidFill>
                <a:latin typeface="Aptos"/>
              </a:defRPr>
            </a:pPr>
            <a:r>
              <a:t>Insert rows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9802368" y="2651760"/>
            <a:ext cx="329184" cy="0"/>
          </a:xfrm>
          <a:prstGeom prst="line">
            <a:avLst/>
          </a:prstGeom>
          <a:ln w="19050">
            <a:solidFill>
              <a:srgbClr val="CC6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9784080" y="2258568"/>
            <a:ext cx="438912" cy="22860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ctr">
              <a:defRPr sz="740" b="1">
                <a:solidFill>
                  <a:srgbClr val="CC6312"/>
                </a:solidFill>
                <a:latin typeface="Aptos"/>
              </a:defRPr>
            </a:pPr>
            <a:r>
              <a:t>Read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10863072" y="3401568"/>
            <a:ext cx="0" cy="347471"/>
          </a:xfrm>
          <a:prstGeom prst="line">
            <a:avLst/>
          </a:prstGeom>
          <a:ln w="17780">
            <a:solidFill>
              <a:srgbClr val="127E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0177272" y="5285232"/>
            <a:ext cx="1371600" cy="347472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ctr">
              <a:defRPr sz="790" b="1">
                <a:solidFill>
                  <a:srgbClr val="127E84"/>
                </a:solidFill>
                <a:latin typeface="Aptos"/>
              </a:defRPr>
            </a:pPr>
            <a:r>
              <a:t>Optional metrics export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26080" y="5532120"/>
            <a:ext cx="5120640" cy="201168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ctr">
              <a:defRPr sz="850" b="1">
                <a:solidFill>
                  <a:srgbClr val="6F4BB5"/>
                </a:solidFill>
                <a:latin typeface="Aptos"/>
              </a:defRPr>
            </a:pPr>
            <a:r>
              <a:t>PerfDataQueueService + PerfDataQueueReader + API Services are hosted on the App Server.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46304"/>
            <a:ext cx="10789920" cy="41148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2300" b="1">
                <a:solidFill>
                  <a:srgbClr val="143D69"/>
                </a:solidFill>
                <a:latin typeface="Aptos"/>
              </a:defRPr>
            </a:pPr>
            <a:r>
              <a:t>Client Demo | Suggested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155680" cy="292608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1050" b="0">
                <a:solidFill>
                  <a:srgbClr val="5E6F82"/>
                </a:solidFill>
                <a:latin typeface="Aptos"/>
              </a:defRPr>
            </a:pPr>
            <a:r>
              <a:t>A short narrative that demonstrates the end-to-end telemetry path, the asynchronous queue, persistence, and hourly processing.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32004"/>
          </a:xfrm>
          <a:prstGeom prst="rect">
            <a:avLst/>
          </a:prstGeom>
          <a:solidFill>
            <a:srgbClr val="2373BE"/>
          </a:solidFill>
          <a:ln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164592"/>
            <a:ext cx="502920" cy="32004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r">
              <a:defRPr sz="1200" b="1">
                <a:solidFill>
                  <a:srgbClr val="2373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261872"/>
            <a:ext cx="11292840" cy="713232"/>
          </a:xfrm>
          <a:prstGeom prst="roundRect">
            <a:avLst/>
          </a:prstGeom>
          <a:solidFill>
            <a:srgbClr val="143D69"/>
          </a:solidFill>
          <a:ln w="10160">
            <a:solidFill>
              <a:srgbClr val="143D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10789920" cy="50292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“A single user action creates telemetry across the web application and downstream APIs. We queue it asynchronously, persist it centrally, and process it for reporting.”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67712"/>
            <a:ext cx="2395728" cy="1353312"/>
          </a:xfrm>
          <a:prstGeom prst="roundRect">
            <a:avLst/>
          </a:prstGeom>
          <a:solidFill>
            <a:srgbClr val="E7F3FF"/>
          </a:solidFill>
          <a:ln w="1397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30936" y="2395728"/>
            <a:ext cx="347472" cy="347472"/>
          </a:xfrm>
          <a:prstGeom prst="ellipse">
            <a:avLst/>
          </a:prstGeom>
          <a:solidFill>
            <a:srgbClr val="2373BE"/>
          </a:solidFill>
          <a:ln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77440"/>
            <a:ext cx="1737360" cy="347472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1050" b="1">
                <a:solidFill>
                  <a:srgbClr val="2373BE"/>
                </a:solidFill>
                <a:latin typeface="Aptos"/>
              </a:defRPr>
            </a:pPr>
            <a:r>
              <a:t>Trigger a user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798064"/>
            <a:ext cx="2139696" cy="7132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900" b="0">
                <a:solidFill>
                  <a:srgbClr val="233448"/>
                </a:solidFill>
                <a:latin typeface="Aptos"/>
              </a:defRPr>
            </a:pPr>
            <a:r>
              <a:t>Open the web application and perform one simple business operation that calls an 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2267712"/>
            <a:ext cx="2395728" cy="1353312"/>
          </a:xfrm>
          <a:prstGeom prst="roundRect">
            <a:avLst/>
          </a:prstGeom>
          <a:solidFill>
            <a:srgbClr val="F4EEFF"/>
          </a:solidFill>
          <a:ln w="13970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57016" y="2395728"/>
            <a:ext cx="347472" cy="347472"/>
          </a:xfrm>
          <a:prstGeom prst="ellipse">
            <a:avLst/>
          </a:prstGeom>
          <a:solidFill>
            <a:srgbClr val="6F4BB5"/>
          </a:solidFill>
          <a:ln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377440"/>
            <a:ext cx="1737360" cy="347472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1050" b="1">
                <a:solidFill>
                  <a:srgbClr val="6F4BB5"/>
                </a:solidFill>
                <a:latin typeface="Aptos"/>
              </a:defRPr>
            </a:pPr>
            <a:r>
              <a:t>Show captured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798064"/>
            <a:ext cx="2139696" cy="7132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900" b="0">
                <a:solidFill>
                  <a:srgbClr val="233448"/>
                </a:solidFill>
                <a:latin typeface="Aptos"/>
              </a:defRPr>
            </a:pPr>
            <a:r>
              <a:t>Explain that OpenTelemetry captures traces, metrics and logs across the web app and API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267712"/>
            <a:ext cx="2395728" cy="1353312"/>
          </a:xfrm>
          <a:prstGeom prst="roundRect">
            <a:avLst/>
          </a:prstGeom>
          <a:solidFill>
            <a:srgbClr val="EBF8E9"/>
          </a:solidFill>
          <a:ln w="13970">
            <a:solidFill>
              <a:srgbClr val="388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83096" y="2395728"/>
            <a:ext cx="347472" cy="347472"/>
          </a:xfrm>
          <a:prstGeom prst="ellipse">
            <a:avLst/>
          </a:prstGeom>
          <a:solidFill>
            <a:srgbClr val="388244"/>
          </a:solidFill>
          <a:ln>
            <a:solidFill>
              <a:srgbClr val="388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377440"/>
            <a:ext cx="1737360" cy="347472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1050" b="1">
                <a:solidFill>
                  <a:srgbClr val="388244"/>
                </a:solidFill>
                <a:latin typeface="Aptos"/>
              </a:defRPr>
            </a:pPr>
            <a:r>
              <a:t>Show PerfDataQueueService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798064"/>
            <a:ext cx="2139696" cy="7132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900" b="0">
                <a:solidFill>
                  <a:srgbClr val="233448"/>
                </a:solidFill>
                <a:latin typeface="Aptos"/>
              </a:defRPr>
            </a:pPr>
            <a:r>
              <a:t>Both the web app and API services call this API to submit telemetry; it writes messages to MSMQ.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2267712"/>
            <a:ext cx="2395728" cy="1353312"/>
          </a:xfrm>
          <a:prstGeom prst="roundRect">
            <a:avLst/>
          </a:prstGeom>
          <a:solidFill>
            <a:srgbClr val="FFF2E2"/>
          </a:solidFill>
          <a:ln w="13970">
            <a:solidFill>
              <a:srgbClr val="CC6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09176" y="2395728"/>
            <a:ext cx="347472" cy="347472"/>
          </a:xfrm>
          <a:prstGeom prst="ellipse">
            <a:avLst/>
          </a:prstGeom>
          <a:solidFill>
            <a:srgbClr val="CC6312"/>
          </a:solidFill>
          <a:ln>
            <a:solidFill>
              <a:srgbClr val="CC63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2377440"/>
            <a:ext cx="1737360" cy="347472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1050" b="1">
                <a:solidFill>
                  <a:srgbClr val="CC6312"/>
                </a:solidFill>
                <a:latin typeface="Aptos"/>
              </a:defRPr>
            </a:pPr>
            <a:r>
              <a:t>Show MSMQ + queue reader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2798064"/>
            <a:ext cx="2139696" cy="7132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900" b="0">
                <a:solidFill>
                  <a:srgbClr val="233448"/>
                </a:solidFill>
                <a:latin typeface="Aptos"/>
              </a:defRPr>
            </a:pPr>
            <a:r>
              <a:t>Messages are buffered asynchronously; PerfDataQueueReader continuously consumes them from MSMQ.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977639"/>
            <a:ext cx="3246120" cy="1353312"/>
          </a:xfrm>
          <a:prstGeom prst="roundRect">
            <a:avLst/>
          </a:prstGeom>
          <a:solidFill>
            <a:srgbClr val="E7F3FF"/>
          </a:solidFill>
          <a:ln w="13970"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0936" y="4105655"/>
            <a:ext cx="347472" cy="347472"/>
          </a:xfrm>
          <a:prstGeom prst="ellipse">
            <a:avLst/>
          </a:prstGeom>
          <a:solidFill>
            <a:srgbClr val="2373BE"/>
          </a:solidFill>
          <a:ln>
            <a:solidFill>
              <a:srgbClr val="237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087368"/>
            <a:ext cx="2587752" cy="347472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1050" b="1">
                <a:solidFill>
                  <a:srgbClr val="2373BE"/>
                </a:solidFill>
                <a:latin typeface="Aptos"/>
              </a:defRPr>
            </a:pPr>
            <a:r>
              <a:t>Verify PerfData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" y="4507992"/>
            <a:ext cx="2990087" cy="7132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900" b="0">
                <a:solidFill>
                  <a:srgbClr val="233448"/>
                </a:solidFill>
                <a:latin typeface="Aptos"/>
              </a:defRPr>
            </a:pPr>
            <a:r>
              <a:t>Show new records in the PerfData database hosted on the dedicated DB Server.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977639"/>
            <a:ext cx="3246120" cy="1353312"/>
          </a:xfrm>
          <a:prstGeom prst="roundRect">
            <a:avLst/>
          </a:prstGeom>
          <a:solidFill>
            <a:srgbClr val="F4EEFF"/>
          </a:solidFill>
          <a:ln w="13970"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71416" y="4105655"/>
            <a:ext cx="347472" cy="347472"/>
          </a:xfrm>
          <a:prstGeom prst="ellipse">
            <a:avLst/>
          </a:prstGeom>
          <a:solidFill>
            <a:srgbClr val="6F4BB5"/>
          </a:solidFill>
          <a:ln>
            <a:solidFill>
              <a:srgbClr val="6F4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087368"/>
            <a:ext cx="2587752" cy="347472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1050" b="1">
                <a:solidFill>
                  <a:srgbClr val="6F4BB5"/>
                </a:solidFill>
                <a:latin typeface="Aptos"/>
              </a:defRPr>
            </a:pPr>
            <a:r>
              <a:t>Explain hourly batch 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4507992"/>
            <a:ext cx="2990087" cy="7132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900" b="0">
                <a:solidFill>
                  <a:srgbClr val="233448"/>
                </a:solidFill>
                <a:latin typeface="Aptos"/>
              </a:defRPr>
            </a:pPr>
            <a:r>
              <a:t>PerfDataBatchProcess aggregates, classifies and cleans up records once per hour.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3977639"/>
            <a:ext cx="3246120" cy="1353312"/>
          </a:xfrm>
          <a:prstGeom prst="roundRect">
            <a:avLst/>
          </a:prstGeom>
          <a:solidFill>
            <a:srgbClr val="E4F8F7"/>
          </a:solidFill>
          <a:ln w="13970">
            <a:solidFill>
              <a:srgbClr val="12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11896" y="4105655"/>
            <a:ext cx="347472" cy="347472"/>
          </a:xfrm>
          <a:prstGeom prst="ellipse">
            <a:avLst/>
          </a:prstGeom>
          <a:solidFill>
            <a:srgbClr val="127E84"/>
          </a:solidFill>
          <a:ln>
            <a:solidFill>
              <a:srgbClr val="12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32519" y="4087368"/>
            <a:ext cx="2587752" cy="347472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1050" b="1">
                <a:solidFill>
                  <a:srgbClr val="127E84"/>
                </a:solidFill>
                <a:latin typeface="Aptos"/>
              </a:defRPr>
            </a:pPr>
            <a:r>
              <a:t>Show reporting / Dynatrace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4507992"/>
            <a:ext cx="2990087" cy="7132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l">
              <a:defRPr sz="900" b="0">
                <a:solidFill>
                  <a:srgbClr val="233448"/>
                </a:solidFill>
                <a:latin typeface="Aptos"/>
              </a:defRPr>
            </a:pPr>
            <a:r>
              <a:t>If enabled in the demo, show aggregated application and transaction-class metrics sent to Dynatrace.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623560"/>
            <a:ext cx="11109960" cy="713232"/>
          </a:xfrm>
          <a:prstGeom prst="roundRect">
            <a:avLst/>
          </a:prstGeom>
          <a:solidFill>
            <a:srgbClr val="F8FBFF"/>
          </a:solidFill>
          <a:ln w="11430">
            <a:solidFill>
              <a:srgbClr val="BEC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687568"/>
            <a:ext cx="1463040" cy="274320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1050" b="1">
                <a:solidFill>
                  <a:srgbClr val="143D69"/>
                </a:solidFill>
                <a:latin typeface="Aptos"/>
              </a:defRPr>
            </a:pPr>
            <a:r>
              <a:t>Before demo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669280"/>
            <a:ext cx="9326880" cy="438912"/>
          </a:xfrm>
          <a:prstGeom prst="rect">
            <a:avLst/>
          </a:prstGeom>
          <a:noFill/>
        </p:spPr>
        <p:txBody>
          <a:bodyPr wrap="square" lIns="64008" rIns="64008" tIns="22860" bIns="18288" anchor="ctr">
            <a:spAutoFit/>
          </a:bodyPr>
          <a:lstStyle/>
          <a:p>
            <a:pPr algn="l">
              <a:defRPr sz="919" b="0">
                <a:solidFill>
                  <a:srgbClr val="233448"/>
                </a:solidFill>
                <a:latin typeface="Aptos"/>
              </a:defRPr>
            </a:pPr>
            <a:r>
              <a:t>☐ Confirm queue reader is running   ☐ Use a known test transaction   ☐ Verify recent DB rows   ☐ Explain hourly batch timing   ☐ Label Dynatrace as optional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